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79" r:id="rId10"/>
    <p:sldId id="264" r:id="rId11"/>
    <p:sldId id="265" r:id="rId12"/>
    <p:sldId id="268" r:id="rId13"/>
    <p:sldId id="269" r:id="rId14"/>
    <p:sldId id="277" r:id="rId15"/>
    <p:sldId id="272" r:id="rId16"/>
    <p:sldId id="274" r:id="rId17"/>
    <p:sldId id="275" r:id="rId18"/>
    <p:sldId id="276"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6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21"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722"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8/8/2026</a:t>
            </a:fld>
            <a:endParaRPr lang="en-US"/>
          </a:p>
        </p:txBody>
      </p:sp>
      <p:sp>
        <p:nvSpPr>
          <p:cNvPr id="1048723"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724"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5"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726"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2" name="Slide Image Placeholder 1"/>
          <p:cNvSpPr>
            <a:spLocks noGrp="1" noRot="1" noChangeAspect="1"/>
          </p:cNvSpPr>
          <p:nvPr>
            <p:ph type="sldImg"/>
          </p:nvPr>
        </p:nvSpPr>
        <p:spPr/>
      </p:sp>
      <p:sp>
        <p:nvSpPr>
          <p:cNvPr id="1048583" name="Notes Placeholder 2"/>
          <p:cNvSpPr>
            <a:spLocks noGrp="1"/>
          </p:cNvSpPr>
          <p:nvPr>
            <p:ph type="body" idx="1"/>
          </p:nvPr>
        </p:nvSpPr>
        <p:spPr/>
        <p:txBody>
          <a:bodyPr/>
          <a:lstStyle/>
          <a:p>
            <a:endParaRPr lang="en-US" dirty="0"/>
          </a:p>
        </p:txBody>
      </p:sp>
      <p:sp>
        <p:nvSpPr>
          <p:cNvPr id="104858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lide Image Placeholder 1"/>
          <p:cNvSpPr>
            <a:spLocks noGrp="1" noRot="1" noChangeAspect="1"/>
          </p:cNvSpPr>
          <p:nvPr>
            <p:ph type="sldImg"/>
          </p:nvPr>
        </p:nvSpPr>
        <p:spPr/>
      </p:sp>
      <p:sp>
        <p:nvSpPr>
          <p:cNvPr id="1048588" name="Notes Placeholder 2"/>
          <p:cNvSpPr>
            <a:spLocks noGrp="1"/>
          </p:cNvSpPr>
          <p:nvPr>
            <p:ph type="body" idx="1"/>
          </p:nvPr>
        </p:nvSpPr>
        <p:spPr/>
        <p:txBody>
          <a:bodyPr/>
          <a:lstStyle/>
          <a:p>
            <a:endParaRPr lang="en-US" dirty="0"/>
          </a:p>
        </p:txBody>
      </p:sp>
      <p:sp>
        <p:nvSpPr>
          <p:cNvPr id="1048589"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Slide Image Placeholder 1"/>
          <p:cNvSpPr>
            <a:spLocks noGrp="1" noRot="1" noChangeAspect="1"/>
          </p:cNvSpPr>
          <p:nvPr>
            <p:ph type="sldImg"/>
          </p:nvPr>
        </p:nvSpPr>
        <p:spPr/>
      </p:sp>
      <p:sp>
        <p:nvSpPr>
          <p:cNvPr id="1048593" name="Notes Placeholder 2"/>
          <p:cNvSpPr>
            <a:spLocks noGrp="1"/>
          </p:cNvSpPr>
          <p:nvPr>
            <p:ph type="body" idx="1"/>
          </p:nvPr>
        </p:nvSpPr>
        <p:spPr/>
        <p:txBody>
          <a:bodyPr/>
          <a:lstStyle/>
          <a:p>
            <a:endParaRPr lang="en-US" dirty="0"/>
          </a:p>
        </p:txBody>
      </p:sp>
      <p:sp>
        <p:nvSpPr>
          <p:cNvPr id="104859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Slide Image Placeholder 1"/>
          <p:cNvSpPr>
            <a:spLocks noGrp="1" noRot="1" noChangeAspect="1"/>
          </p:cNvSpPr>
          <p:nvPr>
            <p:ph type="sldImg"/>
          </p:nvPr>
        </p:nvSpPr>
        <p:spPr/>
      </p:sp>
      <p:sp>
        <p:nvSpPr>
          <p:cNvPr id="1048598" name="Notes Placeholder 2"/>
          <p:cNvSpPr>
            <a:spLocks noGrp="1"/>
          </p:cNvSpPr>
          <p:nvPr>
            <p:ph type="body" idx="1"/>
          </p:nvPr>
        </p:nvSpPr>
        <p:spPr/>
        <p:txBody>
          <a:bodyPr/>
          <a:lstStyle/>
          <a:p>
            <a:endParaRPr lang="en-US" dirty="0"/>
          </a:p>
        </p:txBody>
      </p:sp>
      <p:sp>
        <p:nvSpPr>
          <p:cNvPr id="1048599"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Slide Image Placeholder 1"/>
          <p:cNvSpPr>
            <a:spLocks noGrp="1" noRot="1" noChangeAspect="1"/>
          </p:cNvSpPr>
          <p:nvPr>
            <p:ph type="sldImg"/>
          </p:nvPr>
        </p:nvSpPr>
        <p:spPr/>
      </p:sp>
      <p:sp>
        <p:nvSpPr>
          <p:cNvPr id="1048602" name="Notes Placeholder 2"/>
          <p:cNvSpPr>
            <a:spLocks noGrp="1"/>
          </p:cNvSpPr>
          <p:nvPr>
            <p:ph type="body" idx="1"/>
          </p:nvPr>
        </p:nvSpPr>
        <p:spPr/>
        <p:txBody>
          <a:bodyPr/>
          <a:lstStyle/>
          <a:p>
            <a:endParaRPr lang="en-US" dirty="0"/>
          </a:p>
        </p:txBody>
      </p:sp>
      <p:sp>
        <p:nvSpPr>
          <p:cNvPr id="1048603"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Slide Image Placeholder 1"/>
          <p:cNvSpPr>
            <a:spLocks noGrp="1" noRot="1" noChangeAspect="1"/>
          </p:cNvSpPr>
          <p:nvPr>
            <p:ph type="sldImg"/>
          </p:nvPr>
        </p:nvSpPr>
        <p:spPr/>
      </p:sp>
      <p:sp>
        <p:nvSpPr>
          <p:cNvPr id="1048607" name="Notes Placeholder 2"/>
          <p:cNvSpPr>
            <a:spLocks noGrp="1"/>
          </p:cNvSpPr>
          <p:nvPr>
            <p:ph type="body" idx="1"/>
          </p:nvPr>
        </p:nvSpPr>
        <p:spPr/>
        <p:txBody>
          <a:bodyPr/>
          <a:lstStyle/>
          <a:p>
            <a:endParaRPr lang="en-US" dirty="0"/>
          </a:p>
        </p:txBody>
      </p:sp>
      <p:sp>
        <p:nvSpPr>
          <p:cNvPr id="1048608"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Slide Image Placeholder 1"/>
          <p:cNvSpPr>
            <a:spLocks noGrp="1" noRot="1" noChangeAspect="1"/>
          </p:cNvSpPr>
          <p:nvPr>
            <p:ph type="sldImg"/>
          </p:nvPr>
        </p:nvSpPr>
        <p:spPr/>
      </p:sp>
      <p:sp>
        <p:nvSpPr>
          <p:cNvPr id="1048632" name="Notes Placeholder 2"/>
          <p:cNvSpPr>
            <a:spLocks noGrp="1"/>
          </p:cNvSpPr>
          <p:nvPr>
            <p:ph type="body" idx="1"/>
          </p:nvPr>
        </p:nvSpPr>
        <p:spPr/>
        <p:txBody>
          <a:bodyPr/>
          <a:lstStyle/>
          <a:p>
            <a:endParaRPr lang="en-US" dirty="0"/>
          </a:p>
        </p:txBody>
      </p:sp>
      <p:sp>
        <p:nvSpPr>
          <p:cNvPr id="1048633"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Slide Image Placeholder 1"/>
          <p:cNvSpPr>
            <a:spLocks noGrp="1" noRot="1" noChangeAspect="1"/>
          </p:cNvSpPr>
          <p:nvPr>
            <p:ph type="sldImg"/>
          </p:nvPr>
        </p:nvSpPr>
        <p:spPr/>
      </p:sp>
      <p:sp>
        <p:nvSpPr>
          <p:cNvPr id="1048637" name="Notes Placeholder 2"/>
          <p:cNvSpPr>
            <a:spLocks noGrp="1"/>
          </p:cNvSpPr>
          <p:nvPr>
            <p:ph type="body" idx="1"/>
          </p:nvPr>
        </p:nvSpPr>
        <p:spPr/>
        <p:txBody>
          <a:bodyPr/>
          <a:lstStyle/>
          <a:p>
            <a:endParaRPr lang="en-US" dirty="0"/>
          </a:p>
        </p:txBody>
      </p:sp>
      <p:sp>
        <p:nvSpPr>
          <p:cNvPr id="1048638"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Slide Image Placeholder 1"/>
          <p:cNvSpPr>
            <a:spLocks noGrp="1" noRot="1" noChangeAspect="1"/>
          </p:cNvSpPr>
          <p:nvPr>
            <p:ph type="sldImg"/>
          </p:nvPr>
        </p:nvSpPr>
        <p:spPr/>
      </p:sp>
      <p:sp>
        <p:nvSpPr>
          <p:cNvPr id="1048642" name="Notes Placeholder 2"/>
          <p:cNvSpPr>
            <a:spLocks noGrp="1"/>
          </p:cNvSpPr>
          <p:nvPr>
            <p:ph type="body" idx="1"/>
          </p:nvPr>
        </p:nvSpPr>
        <p:spPr/>
        <p:txBody>
          <a:bodyPr/>
          <a:lstStyle/>
          <a:p>
            <a:endParaRPr lang="en-US" dirty="0"/>
          </a:p>
        </p:txBody>
      </p:sp>
      <p:sp>
        <p:nvSpPr>
          <p:cNvPr id="1048643"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7" name="Slide Image Placeholder 1"/>
          <p:cNvSpPr>
            <a:spLocks noGrp="1" noRot="1" noChangeAspect="1"/>
          </p:cNvSpPr>
          <p:nvPr>
            <p:ph type="sldImg"/>
          </p:nvPr>
        </p:nvSpPr>
        <p:spPr/>
      </p:sp>
      <p:sp>
        <p:nvSpPr>
          <p:cNvPr id="1048678" name="Notes Placeholder 2"/>
          <p:cNvSpPr>
            <a:spLocks noGrp="1"/>
          </p:cNvSpPr>
          <p:nvPr>
            <p:ph type="body" idx="1"/>
          </p:nvPr>
        </p:nvSpPr>
        <p:spPr/>
        <p:txBody>
          <a:bodyPr/>
          <a:lstStyle/>
          <a:p>
            <a:endParaRPr lang="en-US" dirty="0"/>
          </a:p>
        </p:txBody>
      </p:sp>
      <p:sp>
        <p:nvSpPr>
          <p:cNvPr id="1048679"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Slide Image Placeholder 1"/>
          <p:cNvSpPr>
            <a:spLocks noGrp="1" noRot="1" noChangeAspect="1"/>
          </p:cNvSpPr>
          <p:nvPr>
            <p:ph type="sldImg"/>
          </p:nvPr>
        </p:nvSpPr>
        <p:spPr/>
      </p:sp>
      <p:sp>
        <p:nvSpPr>
          <p:cNvPr id="1048682" name="Notes Placeholder 2"/>
          <p:cNvSpPr>
            <a:spLocks noGrp="1"/>
          </p:cNvSpPr>
          <p:nvPr>
            <p:ph type="body" idx="1"/>
          </p:nvPr>
        </p:nvSpPr>
        <p:spPr/>
        <p:txBody>
          <a:bodyPr/>
          <a:lstStyle/>
          <a:p>
            <a:endParaRPr lang="en-US" dirty="0"/>
          </a:p>
        </p:txBody>
      </p:sp>
      <p:sp>
        <p:nvSpPr>
          <p:cNvPr id="1048683"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9" name="Slide Image Placeholder 1"/>
          <p:cNvSpPr>
            <a:spLocks noGrp="1" noRot="1" noChangeAspect="1"/>
          </p:cNvSpPr>
          <p:nvPr>
            <p:ph type="sldImg"/>
          </p:nvPr>
        </p:nvSpPr>
        <p:spPr/>
      </p:sp>
      <p:sp>
        <p:nvSpPr>
          <p:cNvPr id="1048690" name="Notes Placeholder 2"/>
          <p:cNvSpPr>
            <a:spLocks noGrp="1"/>
          </p:cNvSpPr>
          <p:nvPr>
            <p:ph type="body" idx="1"/>
          </p:nvPr>
        </p:nvSpPr>
        <p:spPr/>
        <p:txBody>
          <a:bodyPr/>
          <a:lstStyle/>
          <a:p>
            <a:endParaRPr lang="en-US" dirty="0"/>
          </a:p>
        </p:txBody>
      </p:sp>
      <p:sp>
        <p:nvSpPr>
          <p:cNvPr id="1048691"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Slide Image Placeholder 1"/>
          <p:cNvSpPr>
            <a:spLocks noGrp="1" noRot="1" noChangeAspect="1"/>
          </p:cNvSpPr>
          <p:nvPr>
            <p:ph type="sldImg"/>
          </p:nvPr>
        </p:nvSpPr>
        <p:spPr/>
      </p:sp>
      <p:sp>
        <p:nvSpPr>
          <p:cNvPr id="1048700" name="Notes Placeholder 2"/>
          <p:cNvSpPr>
            <a:spLocks noGrp="1"/>
          </p:cNvSpPr>
          <p:nvPr>
            <p:ph type="body" idx="1"/>
          </p:nvPr>
        </p:nvSpPr>
        <p:spPr/>
        <p:txBody>
          <a:bodyPr/>
          <a:lstStyle/>
          <a:p>
            <a:endParaRPr lang="en-US" dirty="0"/>
          </a:p>
        </p:txBody>
      </p:sp>
      <p:sp>
        <p:nvSpPr>
          <p:cNvPr id="1048701"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9" name="Slide Image Placeholder 1"/>
          <p:cNvSpPr>
            <a:spLocks noGrp="1" noRot="1" noChangeAspect="1"/>
          </p:cNvSpPr>
          <p:nvPr>
            <p:ph type="sldImg"/>
          </p:nvPr>
        </p:nvSpPr>
        <p:spPr/>
      </p:sp>
      <p:sp>
        <p:nvSpPr>
          <p:cNvPr id="1048710" name="Notes Placeholder 2"/>
          <p:cNvSpPr>
            <a:spLocks noGrp="1"/>
          </p:cNvSpPr>
          <p:nvPr>
            <p:ph type="body" idx="1"/>
          </p:nvPr>
        </p:nvSpPr>
        <p:spPr/>
        <p:txBody>
          <a:bodyPr/>
          <a:lstStyle/>
          <a:p>
            <a:endParaRPr lang="en-US" dirty="0"/>
          </a:p>
        </p:txBody>
      </p:sp>
      <p:sp>
        <p:nvSpPr>
          <p:cNvPr id="1048711"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4" name="Slide Image Placeholder 1"/>
          <p:cNvSpPr>
            <a:spLocks noGrp="1" noRot="1" noChangeAspect="1"/>
          </p:cNvSpPr>
          <p:nvPr>
            <p:ph type="sldImg"/>
          </p:nvPr>
        </p:nvSpPr>
        <p:spPr/>
      </p:sp>
      <p:sp>
        <p:nvSpPr>
          <p:cNvPr id="1048715" name="Notes Placeholder 2"/>
          <p:cNvSpPr>
            <a:spLocks noGrp="1"/>
          </p:cNvSpPr>
          <p:nvPr>
            <p:ph type="body" idx="1"/>
          </p:nvPr>
        </p:nvSpPr>
        <p:spPr/>
        <p:txBody>
          <a:bodyPr/>
          <a:lstStyle/>
          <a:p>
            <a:endParaRPr lang="en-US" dirty="0"/>
          </a:p>
        </p:txBody>
      </p:sp>
      <p:sp>
        <p:nvSpPr>
          <p:cNvPr id="1048716"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8" name="Slide Image Placeholder 1"/>
          <p:cNvSpPr>
            <a:spLocks noGrp="1" noRot="1" noChangeAspect="1"/>
          </p:cNvSpPr>
          <p:nvPr>
            <p:ph type="sldImg"/>
          </p:nvPr>
        </p:nvSpPr>
        <p:spPr/>
      </p:sp>
      <p:sp>
        <p:nvSpPr>
          <p:cNvPr id="1048719" name="Notes Placeholder 2"/>
          <p:cNvSpPr>
            <a:spLocks noGrp="1"/>
          </p:cNvSpPr>
          <p:nvPr>
            <p:ph type="body" idx="1"/>
          </p:nvPr>
        </p:nvSpPr>
        <p:spPr/>
        <p:txBody>
          <a:bodyPr/>
          <a:lstStyle/>
          <a:p>
            <a:endParaRPr lang="en-US" dirty="0"/>
          </a:p>
        </p:txBody>
      </p:sp>
      <p:sp>
        <p:nvSpPr>
          <p:cNvPr id="1048720"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97152" name="Image 0" descr="/home/claude/work/college_header.jpeg"/>
          <p:cNvPicPr>
            <a:picLocks noChangeAspect="1"/>
          </p:cNvPicPr>
          <p:nvPr/>
        </p:nvPicPr>
        <p:blipFill>
          <a:blip r:embed="rId3"/>
          <a:stretch>
            <a:fillRect/>
          </a:stretch>
        </p:blipFill>
        <p:spPr>
          <a:xfrm>
            <a:off x="1665605" y="223520"/>
            <a:ext cx="8302625" cy="1364615"/>
          </a:xfrm>
          <a:prstGeom prst="rect">
            <a:avLst/>
          </a:prstGeom>
        </p:spPr>
      </p:pic>
      <p:sp>
        <p:nvSpPr>
          <p:cNvPr id="1048576" name="Text 0"/>
          <p:cNvSpPr/>
          <p:nvPr/>
        </p:nvSpPr>
        <p:spPr>
          <a:xfrm>
            <a:off x="457200" y="1382880"/>
            <a:ext cx="11277295" cy="902985"/>
          </a:xfrm>
          <a:prstGeom prst="rect">
            <a:avLst/>
          </a:prstGeom>
          <a:noFill/>
        </p:spPr>
        <p:txBody>
          <a:bodyPr wrap="square" rtlCol="0" anchor="ctr"/>
          <a:lstStyle/>
          <a:p>
            <a:pPr marL="0" indent="0" algn="ctr">
              <a:buNone/>
            </a:pPr>
            <a:endParaRPr lang="en-US" sz="1800" dirty="0"/>
          </a:p>
        </p:txBody>
      </p:sp>
      <p:sp>
        <p:nvSpPr>
          <p:cNvPr id="1048577" name="Text 1"/>
          <p:cNvSpPr/>
          <p:nvPr/>
        </p:nvSpPr>
        <p:spPr>
          <a:xfrm>
            <a:off x="0" y="1587500"/>
            <a:ext cx="11896725" cy="494030"/>
          </a:xfrm>
          <a:prstGeom prst="rect">
            <a:avLst/>
          </a:prstGeom>
          <a:noFill/>
        </p:spPr>
        <p:txBody>
          <a:bodyPr wrap="square" rtlCol="0" anchor="ctr"/>
          <a:lstStyle/>
          <a:p>
            <a:pPr algn="ctr"/>
            <a:r>
              <a:rPr lang="en-US" sz="1500" b="1" dirty="0">
                <a:latin typeface="Times New Roman" panose="02020603050405020304" pitchFamily="34" charset="0"/>
                <a:cs typeface="Times New Roman" panose="02020603050405020304" pitchFamily="34" charset="0"/>
                <a:sym typeface="+mn-ea"/>
              </a:rPr>
              <a:t>DEPARTMENT OF BIOMEDICAL ENGINEERING</a:t>
            </a:r>
            <a:endParaRPr lang="en-US" sz="1500" b="1" dirty="0"/>
          </a:p>
        </p:txBody>
      </p:sp>
      <p:sp>
        <p:nvSpPr>
          <p:cNvPr id="1048579" name="Text 3"/>
          <p:cNvSpPr/>
          <p:nvPr/>
        </p:nvSpPr>
        <p:spPr>
          <a:xfrm>
            <a:off x="640080" y="2606040"/>
            <a:ext cx="10911535" cy="1417320"/>
          </a:xfrm>
          <a:prstGeom prst="rect">
            <a:avLst/>
          </a:prstGeom>
          <a:noFill/>
        </p:spPr>
        <p:txBody>
          <a:bodyPr wrap="square" rtlCol="0" anchor="ctr"/>
          <a:lstStyle/>
          <a:p>
            <a:pPr marL="0" indent="0" algn="ctr">
              <a:buNone/>
            </a:pPr>
            <a:r>
              <a:rPr lang="en-US" sz="2700" b="1" dirty="0">
                <a:solidFill>
                  <a:srgbClr val="FF0000"/>
                </a:solidFill>
                <a:latin typeface="Times New Roman" panose="02020603050405020304" pitchFamily="34" charset="0"/>
                <a:ea typeface="Times New Roman" panose="02020603050405020304" pitchFamily="34" charset="-122"/>
                <a:cs typeface="Times New Roman" panose="02020603050405020304" pitchFamily="34" charset="-120"/>
              </a:rPr>
              <a:t>ADAPTIVE IoT-BASED RESPIRATORY MONITORING AND EARLY WARNING SYSTEM</a:t>
            </a:r>
            <a:endParaRPr lang="en-US" sz="2700" dirty="0"/>
          </a:p>
        </p:txBody>
      </p:sp>
      <p:sp>
        <p:nvSpPr>
          <p:cNvPr id="1048580" name="Text 4"/>
          <p:cNvSpPr/>
          <p:nvPr/>
        </p:nvSpPr>
        <p:spPr>
          <a:xfrm>
            <a:off x="6949440" y="4343400"/>
            <a:ext cx="4754880" cy="1371600"/>
          </a:xfrm>
          <a:prstGeom prst="rect">
            <a:avLst/>
          </a:prstGeom>
          <a:noFill/>
        </p:spPr>
        <p:txBody>
          <a:bodyPr wrap="square" rtlCol="0" anchor="ctr"/>
          <a:lstStyle/>
          <a:p>
            <a:pPr marL="0" indent="0" algn="l">
              <a:buNone/>
            </a:pPr>
            <a:endParaRPr lang="en-US" sz="1500" dirty="0"/>
          </a:p>
          <a:p>
            <a:pPr marL="0" indent="0" algn="l">
              <a:buNone/>
            </a:pPr>
            <a:r>
              <a:rPr lang="en-US" sz="15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
</a:t>
            </a:r>
            <a:endParaRPr lang="en-US" sz="1500" dirty="0"/>
          </a:p>
        </p:txBody>
      </p:sp>
      <p:sp>
        <p:nvSpPr>
          <p:cNvPr id="2" name="Text Box 1"/>
          <p:cNvSpPr txBox="1"/>
          <p:nvPr/>
        </p:nvSpPr>
        <p:spPr>
          <a:xfrm>
            <a:off x="3832225" y="1861820"/>
            <a:ext cx="4064000" cy="646331"/>
          </a:xfrm>
          <a:prstGeom prst="rect">
            <a:avLst/>
          </a:prstGeom>
          <a:noFill/>
        </p:spPr>
        <p:txBody>
          <a:bodyPr wrap="square" rtlCol="0">
            <a:spAutoFit/>
          </a:bodyPr>
          <a:lstStyle/>
          <a:p>
            <a:pPr algn="ctr"/>
            <a:endParaRPr lang="en-US" dirty="0">
              <a:latin typeface="Times New Roman" panose="02020603050405020304" pitchFamily="34" charset="0"/>
              <a:cs typeface="Times New Roman" panose="02020603050405020304" pitchFamily="34" charset="0"/>
              <a:sym typeface="+mn-ea"/>
            </a:endParaRPr>
          </a:p>
          <a:p>
            <a:pPr algn="ctr"/>
            <a:r>
              <a:rPr lang="en-US" dirty="0">
                <a:latin typeface="Times New Roman" panose="02020603050405020304" pitchFamily="34" charset="0"/>
                <a:cs typeface="Times New Roman" panose="02020603050405020304" pitchFamily="34" charset="0"/>
                <a:sym typeface="+mn-ea"/>
              </a:rPr>
              <a:t>Zeroth Review </a:t>
            </a:r>
            <a:endParaRPr lang="en-US" dirty="0">
              <a:latin typeface="Times New Roman" panose="02020603050405020304" pitchFamily="34" charset="0"/>
              <a:cs typeface="Times New Roman" panose="02020603050405020304" pitchFamily="34" charset="0"/>
            </a:endParaRPr>
          </a:p>
        </p:txBody>
      </p:sp>
      <p:sp>
        <p:nvSpPr>
          <p:cNvPr id="5" name="Text Box 4"/>
          <p:cNvSpPr txBox="1"/>
          <p:nvPr/>
        </p:nvSpPr>
        <p:spPr>
          <a:xfrm>
            <a:off x="7461885" y="4761865"/>
            <a:ext cx="6096000" cy="953135"/>
          </a:xfrm>
          <a:prstGeom prst="rect">
            <a:avLst/>
          </a:prstGeom>
          <a:noFill/>
        </p:spPr>
        <p:txBody>
          <a:bodyPr wrap="square" rtlCol="0" anchor="t">
            <a:spAutoFit/>
          </a:bodyPr>
          <a:lstStyle/>
          <a:p>
            <a:r>
              <a:rPr lang="en-US" sz="2000" b="1" dirty="0">
                <a:latin typeface="Times New Roman" panose="02020603050405020304" pitchFamily="34" charset="0"/>
                <a:cs typeface="Times New Roman" panose="02020603050405020304" pitchFamily="34" charset="0"/>
                <a:sym typeface="+mn-ea"/>
              </a:rPr>
              <a:t>PRESENTED BY,</a:t>
            </a:r>
            <a:endParaRPr lang="en-US" sz="2000" b="1" dirty="0">
              <a:latin typeface="Times New Roman" panose="02020603050405020304" pitchFamily="34" charset="0"/>
              <a:cs typeface="Times New Roman" panose="02020603050405020304" pitchFamily="34" charset="0"/>
            </a:endParaRPr>
          </a:p>
          <a:p>
            <a:r>
              <a:rPr lang="en-US" dirty="0">
                <a:latin typeface="Times New Roman" panose="02020603050405020304" pitchFamily="34" charset="0"/>
                <a:cs typeface="Times New Roman" panose="02020603050405020304" pitchFamily="34" charset="0"/>
                <a:sym typeface="+mn-ea"/>
              </a:rPr>
              <a:t>DHIVYA RANJANI(922524121004)</a:t>
            </a:r>
          </a:p>
          <a:p>
            <a:r>
              <a:rPr lang="en-US" dirty="0">
                <a:latin typeface="Times New Roman" panose="02020603050405020304" pitchFamily="34" charset="0"/>
                <a:cs typeface="Times New Roman" panose="02020603050405020304" pitchFamily="34" charset="0"/>
                <a:sym typeface="+mn-ea"/>
              </a:rPr>
              <a:t>RAMYA M(922524121021)</a:t>
            </a:r>
          </a:p>
        </p:txBody>
      </p:sp>
      <p:sp>
        <p:nvSpPr>
          <p:cNvPr id="6" name="Text Box 5"/>
          <p:cNvSpPr txBox="1"/>
          <p:nvPr/>
        </p:nvSpPr>
        <p:spPr>
          <a:xfrm>
            <a:off x="640080" y="4685030"/>
            <a:ext cx="4064000" cy="2030095"/>
          </a:xfrm>
          <a:prstGeom prst="rect">
            <a:avLst/>
          </a:prstGeom>
          <a:noFill/>
        </p:spPr>
        <p:txBody>
          <a:bodyPr wrap="square" rtlCol="0">
            <a:spAutoFit/>
          </a:bodyPr>
          <a:lstStyle/>
          <a:p>
            <a:r>
              <a:rPr lang="en-US" b="1" dirty="0">
                <a:latin typeface="Times New Roman" panose="02020603050405020304" pitchFamily="34" charset="0"/>
                <a:cs typeface="Times New Roman" panose="02020603050405020304" pitchFamily="34" charset="0"/>
                <a:sym typeface="+mn-ea"/>
              </a:rPr>
              <a:t>GUIDED BY,</a:t>
            </a:r>
            <a:endParaRPr lang="en-US" b="1" dirty="0">
              <a:latin typeface="Times New Roman" panose="02020603050405020304" pitchFamily="34" charset="0"/>
              <a:cs typeface="Times New Roman" panose="02020603050405020304" pitchFamily="34" charset="0"/>
            </a:endParaRPr>
          </a:p>
          <a:p>
            <a:r>
              <a:rPr lang="en-US" dirty="0">
                <a:latin typeface="Times New Roman" panose="02020603050405020304" pitchFamily="34" charset="0"/>
                <a:cs typeface="Times New Roman" panose="02020603050405020304" pitchFamily="34" charset="0"/>
                <a:sym typeface="+mn-ea"/>
              </a:rPr>
              <a:t>Mrs. S. KEERTHANA, M.E</a:t>
            </a:r>
            <a:endParaRPr lang="en-US" dirty="0">
              <a:latin typeface="Times New Roman" panose="02020603050405020304" pitchFamily="34" charset="0"/>
              <a:cs typeface="Times New Roman" panose="02020603050405020304" pitchFamily="34" charset="0"/>
            </a:endParaRPr>
          </a:p>
          <a:p>
            <a:r>
              <a:rPr lang="en-US" dirty="0">
                <a:latin typeface="Times New Roman" panose="02020603050405020304" pitchFamily="34" charset="0"/>
                <a:cs typeface="Times New Roman" panose="02020603050405020304" pitchFamily="34" charset="0"/>
                <a:sym typeface="+mn-ea"/>
              </a:rPr>
              <a:t>ASSITANT PROFESSOR</a:t>
            </a:r>
            <a:endParaRPr lang="en-US" dirty="0">
              <a:latin typeface="Times New Roman" panose="02020603050405020304" pitchFamily="34" charset="0"/>
              <a:cs typeface="Times New Roman" panose="02020603050405020304" pitchFamily="34" charset="0"/>
            </a:endParaRPr>
          </a:p>
          <a:p>
            <a:r>
              <a:rPr lang="en-US" altLang="en-US" dirty="0">
                <a:latin typeface="Times New Roman" panose="02020603050405020304" pitchFamily="34" charset="0"/>
                <a:cs typeface="Times New Roman" panose="02020603050405020304" pitchFamily="34" charset="0"/>
                <a:sym typeface="+mn-ea"/>
              </a:rPr>
              <a:t>DEPARTMENT OF BIOMEDICAL ENGINEERING</a:t>
            </a:r>
            <a:endParaRPr lang="zh-CN" altLang="en-US" dirty="0">
              <a:latin typeface="Times New Roman" panose="02020603050405020304" pitchFamily="34" charset="0"/>
              <a:cs typeface="Times New Roman" panose="02020603050405020304" pitchFamily="34" charset="0"/>
            </a:endParaRPr>
          </a:p>
          <a:p>
            <a:r>
              <a:rPr lang="en-US" dirty="0">
                <a:latin typeface="Times New Roman" panose="02020603050405020304" pitchFamily="34" charset="0"/>
                <a:cs typeface="Times New Roman" panose="02020603050405020304" pitchFamily="34" charset="0"/>
                <a:sym typeface="+mn-ea"/>
              </a:rPr>
              <a:t>V.S.B ENGINEERING COLLEGE, KARUR.</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585" name="Text 0"/>
          <p:cNvSpPr/>
          <p:nvPr/>
        </p:nvSpPr>
        <p:spPr>
          <a:xfrm>
            <a:off x="457200" y="256032"/>
            <a:ext cx="11277295" cy="640080"/>
          </a:xfrm>
          <a:prstGeom prst="rect">
            <a:avLst/>
          </a:prstGeom>
          <a:noFill/>
        </p:spPr>
        <p:txBody>
          <a:bodyPr wrap="square" rtlCol="0" anchor="ctr"/>
          <a:lstStyle/>
          <a:p>
            <a:pPr marL="0" indent="0" algn="ctr">
              <a:buNone/>
            </a:pPr>
            <a:r>
              <a:rPr lang="en-US" sz="30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ABSTRACT</a:t>
            </a:r>
            <a:endParaRPr lang="en-US" sz="3000" dirty="0"/>
          </a:p>
        </p:txBody>
      </p:sp>
      <p:sp>
        <p:nvSpPr>
          <p:cNvPr id="1048586" name="Text 1"/>
          <p:cNvSpPr/>
          <p:nvPr/>
        </p:nvSpPr>
        <p:spPr>
          <a:xfrm>
            <a:off x="640080" y="793376"/>
            <a:ext cx="10911535" cy="5349390"/>
          </a:xfrm>
          <a:prstGeom prst="rect">
            <a:avLst/>
          </a:prstGeom>
          <a:noFill/>
        </p:spPr>
        <p:txBody>
          <a:bodyPr wrap="square" rtlCol="0" anchor="t"/>
          <a:lstStyle/>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This project presents an IoT-based wearable embedded system for continuous, multi-parameter monitoring of a patient’s respiratory pattern, blood-oxygen saturation (SpO2), heart rate, and body temperature.</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A flexible respiration sensor, a MAX30102 optical pulse-oximetry sensor, and a body-temperature sensor are interfaced with a low-power ESP32 microcontroller for real-time signal acquisition and processing.</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The system cross-checks respiratory rate against SpO2 and heart-rate trends to reliably detect abnormal patterns such as apnea, bradypnea, and tachypnea, while reducing false alarms.</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On detecting an abnormality, the wearable instantly triggers a local vibration/buzzer alert and pushes a real-time notification to a cloud dashboard and mobile app for the caregiver.</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The device is compact, low-power, rechargeable, and non-invasive, designed for continuous day-long wear in home care, elderly monitoring, and post-operative recovery settings.</a:t>
            </a:r>
            <a:endParaRPr lang="en-US" sz="2400" dirty="0">
              <a:latin typeface="Times New Roman" panose="02020603050405020304" pitchFamily="18" charset="0"/>
              <a:cs typeface="Times New Roman" panose="02020603050405020304" pitchFamily="18" charset="0"/>
            </a:endParaRPr>
          </a:p>
        </p:txBody>
      </p:sp>
      <p:sp>
        <p:nvSpPr>
          <p:cNvPr id="2" name="Text Box 0"/>
          <p:cNvSpPr txBox="1"/>
          <p:nvPr/>
        </p:nvSpPr>
        <p:spPr>
          <a:xfrm>
            <a:off x="-845820" y="2016760"/>
            <a:ext cx="4064000" cy="368300"/>
          </a:xfrm>
          <a:prstGeom prst="rect">
            <a:avLst/>
          </a:prstGeom>
          <a:noFill/>
        </p:spPr>
        <p:txBody>
          <a:bodyPr wrap="square" rtlCol="0">
            <a:spAutoFit/>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590" name="Text 0"/>
          <p:cNvSpPr/>
          <p:nvPr/>
        </p:nvSpPr>
        <p:spPr>
          <a:xfrm>
            <a:off x="457200" y="256032"/>
            <a:ext cx="11277295" cy="640080"/>
          </a:xfrm>
          <a:prstGeom prst="rect">
            <a:avLst/>
          </a:prstGeom>
          <a:noFill/>
        </p:spPr>
        <p:txBody>
          <a:bodyPr wrap="square" rtlCol="0" anchor="ctr"/>
          <a:lstStyle/>
          <a:p>
            <a:pPr marL="0" indent="0" algn="ctr">
              <a:buNone/>
            </a:pPr>
            <a:r>
              <a:rPr lang="en-US" sz="30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INTRODUCTION</a:t>
            </a:r>
            <a:endParaRPr lang="en-US" sz="3000" dirty="0"/>
          </a:p>
        </p:txBody>
      </p:sp>
      <p:sp>
        <p:nvSpPr>
          <p:cNvPr id="1048591" name="Text 1"/>
          <p:cNvSpPr/>
          <p:nvPr/>
        </p:nvSpPr>
        <p:spPr>
          <a:xfrm>
            <a:off x="640080" y="1051560"/>
            <a:ext cx="10911535" cy="5486400"/>
          </a:xfrm>
          <a:prstGeom prst="rect">
            <a:avLst/>
          </a:prstGeom>
          <a:noFill/>
        </p:spPr>
        <p:txBody>
          <a:bodyPr wrap="square" rtlCol="0" anchor="t"/>
          <a:lstStyle/>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0"/>
              </a:rPr>
              <a:t>Respiratory disorders such as sleep apnea, COPD, and asthma often progress unnoticed without continuous monitoring, especially outside hospital settings.</a:t>
            </a:r>
            <a:endParaRPr lang="en-US" sz="2400" dirty="0">
              <a:latin typeface="Times New Roman" panose="02020603050405020304" pitchFamily="34" charset="0"/>
              <a:cs typeface="Times New Roman" panose="02020603050405020304" pitchFamily="34"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0"/>
              </a:rPr>
              <a:t>The convergence of wearable sensors and the Internet of Things (IoT) now enables continuous, unobtrusive tracking of physiological signals beyond clinical environments.</a:t>
            </a:r>
            <a:endParaRPr lang="en-US" sz="2400" dirty="0">
              <a:latin typeface="Times New Roman" panose="02020603050405020304" pitchFamily="34" charset="0"/>
              <a:cs typeface="Times New Roman" panose="02020603050405020304" pitchFamily="34"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0"/>
              </a:rPr>
              <a:t>Respiratory abnormalities are frequently accompanied by changes in blood-oxygen saturation and heart rate, so combining multiple parameters improves the reliability of early-warning detection.</a:t>
            </a:r>
            <a:endParaRPr lang="en-US" sz="2400" dirty="0">
              <a:latin typeface="Times New Roman" panose="02020603050405020304" pitchFamily="34" charset="0"/>
              <a:cs typeface="Times New Roman" panose="02020603050405020304" pitchFamily="34"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0"/>
              </a:rPr>
              <a:t>The proposed wearable streams respiration, SpO2, heart-rate, and temperature data to a cloud dashboard and mobile app, allowing caregivers to monitor patients remotely in real time.</a:t>
            </a:r>
            <a:endParaRPr lang="en-US" sz="2400" dirty="0">
              <a:latin typeface="Times New Roman" panose="02020603050405020304" pitchFamily="34" charset="0"/>
              <a:cs typeface="Times New Roman" panose="020206030504050203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595" name="Text 0"/>
          <p:cNvSpPr/>
          <p:nvPr/>
        </p:nvSpPr>
        <p:spPr>
          <a:xfrm>
            <a:off x="457200" y="256032"/>
            <a:ext cx="11277295" cy="640080"/>
          </a:xfrm>
          <a:prstGeom prst="rect">
            <a:avLst/>
          </a:prstGeom>
          <a:noFill/>
        </p:spPr>
        <p:txBody>
          <a:bodyPr wrap="square" rtlCol="0" anchor="ctr"/>
          <a:lstStyle/>
          <a:p>
            <a:pPr marL="0" indent="0" algn="ctr">
              <a:buNone/>
            </a:pPr>
            <a:r>
              <a:rPr lang="en-US" sz="30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OBJECTIVES</a:t>
            </a:r>
            <a:endParaRPr lang="en-US" sz="3000" dirty="0"/>
          </a:p>
        </p:txBody>
      </p:sp>
      <p:sp>
        <p:nvSpPr>
          <p:cNvPr id="1048596" name="Text 1"/>
          <p:cNvSpPr/>
          <p:nvPr/>
        </p:nvSpPr>
        <p:spPr>
          <a:xfrm>
            <a:off x="640080" y="1051560"/>
            <a:ext cx="10911535" cy="5486400"/>
          </a:xfrm>
          <a:prstGeom prst="rect">
            <a:avLst/>
          </a:prstGeom>
          <a:noFill/>
        </p:spPr>
        <p:txBody>
          <a:bodyPr wrap="square" rtlCol="0" anchor="t"/>
          <a:lstStyle/>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To design a compact wearable IoT device that integrates respiratory-rate, SpO2, heart-rate, and body-temperature sensing in a single low-power unit.</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To continuously compute the breathing pattern and classify it as normal, bradypnea, tachypnea, or apnea using clinically defined thresholds.</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To cross-validate respiratory alerts against SpO2 and heart-rate trends, improving detection reliability and reducing false alarms.</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To enable real-time WiFi/BLE connectivity to a cloud dashboard and mobile app that instantly notifies caregivers of abnormal readings.</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To build a rechargeable, ergonomic, and low-power wearable suitable for continuous, all-day use in home and clinical settings.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00" name="Text 0"/>
          <p:cNvSpPr/>
          <p:nvPr/>
        </p:nvSpPr>
        <p:spPr>
          <a:xfrm>
            <a:off x="457200" y="256032"/>
            <a:ext cx="11277295" cy="640080"/>
          </a:xfrm>
          <a:prstGeom prst="rect">
            <a:avLst/>
          </a:prstGeom>
          <a:noFill/>
        </p:spPr>
        <p:txBody>
          <a:bodyPr wrap="square" rtlCol="0" anchor="ctr"/>
          <a:lstStyle/>
          <a:p>
            <a:pPr marL="0" indent="0" algn="ctr">
              <a:buNone/>
            </a:pPr>
            <a:r>
              <a:rPr lang="en-US" sz="28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LITERATURE SURVEY</a:t>
            </a:r>
            <a:endParaRPr lang="en-US" sz="2800" dirty="0"/>
          </a:p>
        </p:txBody>
      </p:sp>
      <p:graphicFrame>
        <p:nvGraphicFramePr>
          <p:cNvPr id="4194304" name="Table 0"/>
          <p:cNvGraphicFramePr>
            <a:graphicFrameLocks noGrp="1"/>
          </p:cNvGraphicFramePr>
          <p:nvPr/>
        </p:nvGraphicFramePr>
        <p:xfrm>
          <a:off x="320040" y="1051560"/>
          <a:ext cx="10634472" cy="5120640"/>
        </p:xfrm>
        <a:graphic>
          <a:graphicData uri="http://schemas.openxmlformats.org/drawingml/2006/table">
            <a:tbl>
              <a:tblPr/>
              <a:tblGrid>
                <a:gridCol w="5486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3319272">
                  <a:extLst>
                    <a:ext uri="{9D8B030D-6E8A-4147-A177-3AD203B41FA5}">
                      <a16:colId xmlns:a16="http://schemas.microsoft.com/office/drawing/2014/main" val="20004"/>
                    </a:ext>
                  </a:extLst>
                </a:gridCol>
              </a:tblGrid>
              <a:tr h="853440">
                <a:tc>
                  <a:txBody>
                    <a:bodyPr/>
                    <a:lstStyle/>
                    <a:p>
                      <a:pPr marL="0" indent="0" algn="ctr">
                        <a:buNone/>
                      </a:pPr>
                      <a:r>
                        <a:rPr lang="en-US" sz="105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S.NO</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marL="0" indent="0" algn="ctr">
                        <a:buNone/>
                      </a:pPr>
                      <a:r>
                        <a:rPr lang="en-US" sz="105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TITLE</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marL="0" indent="0" algn="ctr">
                        <a:buNone/>
                      </a:pPr>
                      <a:r>
                        <a:rPr lang="en-US" sz="105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AUTHOR</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marL="0" indent="0" algn="ctr">
                        <a:buNone/>
                      </a:pPr>
                      <a:r>
                        <a:rPr lang="en-US" sz="105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PUBLICATION &amp; YEAR</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marL="0" indent="0" algn="ctr">
                        <a:buNone/>
                      </a:pPr>
                      <a:r>
                        <a:rPr lang="en-US" sz="105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DESCRIPTION</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853440">
                <a:tc>
                  <a:txBody>
                    <a:bodyPr/>
                    <a:lstStyle/>
                    <a:p>
                      <a:pPr marL="0" indent="0" algn="ctr">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1</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IoT Health Monitoring Device of Oxygen Saturation (SpO2) and Heart Rate Level</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O. Y. Tham, M. A. Markom, A. H. A. Bakar, E. S. M. M. Tan, A. M. Markom</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ICITAMEE, IEEE, 2020</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ESP8266-based wearable using a MAX30100 sensor to continuously measure heart rate and SpO2 and push readings to the cloud.</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853440">
                <a:tc>
                  <a:txBody>
                    <a:bodyPr/>
                    <a:lstStyle/>
                    <a:p>
                      <a:pPr marL="0" indent="0" algn="ctr">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2</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Design and Implementation of IoT Enabled Low Cost SPO2 and Heart Rate Monitoring System</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Khushi Singh, Pradheep Thiyagarajan, Sasikumar P.</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IEEE DELCON, 2022</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Low-cost pulse-oximetry wearable transmitting heart-rate and SpO2 data over IoT for continuous tracking.</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853440">
                <a:tc>
                  <a:txBody>
                    <a:bodyPr/>
                    <a:lstStyle/>
                    <a:p>
                      <a:pPr marL="0" indent="0" algn="ctr">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3</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Design a Medical Device to Monitor the Human Body (SpO2, Heart Rate, Body Temperature)</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M. I. Kadhim, R. A. Fayadh, J. F. Mahdi</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IEEE ICNAS, 2022</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Multi-parameter device combining SpO2, heart-rate, and body-temperature sensing for simultaneous monitoring.</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853440">
                <a:tc>
                  <a:txBody>
                    <a:bodyPr/>
                    <a:lstStyle/>
                    <a:p>
                      <a:pPr marL="0" indent="0" algn="ctr">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4</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E-Health Tracker: An IoT-Cloud Based Health Monitoring System</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D. K. S. Nadiger, J. Dhanush, R. Vikas, S. K. B V, A. R. Naik, C. G. M</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IEEE ICSSIT, 2022</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Cloud-connected multi-sensor health tracker that logs vitals continuously and raises alerts on abnormal readings.</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853440">
                <a:tc>
                  <a:txBody>
                    <a:bodyPr/>
                    <a:lstStyle/>
                    <a:p>
                      <a:pPr marL="0" indent="0" algn="ctr">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5</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State of the Art Review of Wearable Devices for Respiratory Monitoring</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Z. Jia, H. Huth, W. Q. Teoh, S. Xu, B. Wood, Z. T. H. Tse</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IEEE Access, vol. 13, 2025</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Reviews wearable respiratory-monitoring technologies, highlighting the shift toward multi-parameter, sensor-fused platforms.</a:t>
                      </a:r>
                      <a:endParaRPr lang="en-US" sz="105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04" name="Text 0"/>
          <p:cNvSpPr/>
          <p:nvPr/>
        </p:nvSpPr>
        <p:spPr>
          <a:xfrm>
            <a:off x="457200" y="256032"/>
            <a:ext cx="11277295" cy="640080"/>
          </a:xfrm>
          <a:prstGeom prst="rect">
            <a:avLst/>
          </a:prstGeom>
          <a:noFill/>
        </p:spPr>
        <p:txBody>
          <a:bodyPr wrap="square" rtlCol="0" anchor="ctr"/>
          <a:lstStyle/>
          <a:p>
            <a:pPr marL="0" indent="0" algn="ctr">
              <a:buNone/>
            </a:pPr>
            <a:r>
              <a:rPr lang="en-US" sz="30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EXISTING SYSTEM</a:t>
            </a:r>
            <a:endParaRPr lang="en-US" sz="3000" dirty="0"/>
          </a:p>
        </p:txBody>
      </p:sp>
      <p:sp>
        <p:nvSpPr>
          <p:cNvPr id="1048605" name="Text 1"/>
          <p:cNvSpPr/>
          <p:nvPr/>
        </p:nvSpPr>
        <p:spPr>
          <a:xfrm>
            <a:off x="640080" y="1051560"/>
            <a:ext cx="10911535" cy="5486400"/>
          </a:xfrm>
          <a:prstGeom prst="rect">
            <a:avLst/>
          </a:prstGeom>
          <a:noFill/>
        </p:spPr>
        <p:txBody>
          <a:bodyPr wrap="square" rtlCol="0" anchor="t"/>
          <a:lstStyle/>
          <a:p>
            <a:pPr marL="1200150" lvl="2" indent="-285750" algn="l">
              <a:lnSpc>
                <a:spcPct val="125000"/>
              </a:lnSpc>
              <a:spcAft>
                <a:spcPts val="1200"/>
              </a:spcAft>
              <a:buSzPct val="100000"/>
              <a:buFont typeface="Arial" panose="020B0604020202020204" pitchFamily="34" charset="0"/>
              <a:buChar char="•"/>
            </a:pPr>
            <a:endParaRPr lang="en-US" sz="17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endParaRPr>
          </a:p>
          <a:p>
            <a:pPr marL="285750" indent="-28575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Consumer smartwatches casually estimate heart rate and SpO2 but are not clinically validated and lack dedicated respiratory-rate tracking or early-warning alerts.</a:t>
            </a:r>
            <a:endParaRPr lang="en-US" sz="2400" dirty="0">
              <a:latin typeface="Times New Roman" panose="02020603050405020304" pitchFamily="18" charset="0"/>
              <a:cs typeface="Times New Roman" panose="02020603050405020304" pitchFamily="18" charset="0"/>
            </a:endParaRPr>
          </a:p>
          <a:p>
            <a:pPr marL="285750" indent="-285750" algn="just">
              <a:lnSpc>
                <a:spcPct val="125000"/>
              </a:lnSpc>
              <a:spcAft>
                <a:spcPts val="1200"/>
              </a:spcAft>
              <a:buSzPct val="100000"/>
              <a:buFont typeface="Arial" panose="020B0604020202020204" pitchFamily="34" charset="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Most existing embedded monitors rely on GSM/SMS for alerts, which adds recurring SIM cost and delay compared to instant IoT/cloud notifications.</a:t>
            </a:r>
          </a:p>
          <a:p>
            <a:pPr marL="0" lvl="2" indent="-285750" algn="just">
              <a:lnSpc>
                <a:spcPct val="125000"/>
              </a:lnSpc>
              <a:spcAft>
                <a:spcPts val="1200"/>
              </a:spcAft>
              <a:buSzPct val="100000"/>
              <a:buFont typeface="Arial" panose="020B0604020202020204" pitchFamily="34" charset="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sym typeface="+mn-ea"/>
              </a:rPr>
              <a:t>Hospital bedside monitors track respiration, SpO2, heart rate, and temperature accurately but are bulky, wired, and confined to ICU or ward settings.</a:t>
            </a:r>
          </a:p>
          <a:p>
            <a:pPr marL="0" lvl="2" indent="-285750" algn="just">
              <a:lnSpc>
                <a:spcPct val="125000"/>
              </a:lnSpc>
              <a:spcAft>
                <a:spcPts val="1200"/>
              </a:spcAft>
              <a:buSzPct val="100000"/>
              <a:buFont typeface="Arial" panose="020B0604020202020204" pitchFamily="34" charset="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sym typeface="+mn-ea"/>
              </a:rPr>
              <a:t>.Dedicated respiratory monitors, such as piezoelectric-belt devices, track only breathing rate and cannot cross-verify readings against other vital signs.</a:t>
            </a:r>
            <a:endParaRPr lang="en-US" sz="2400" dirty="0">
              <a:latin typeface="Times New Roman" panose="02020603050405020304" pitchFamily="18" charset="0"/>
              <a:cs typeface="Times New Roman" panose="02020603050405020304" pitchFamily="18" charset="0"/>
            </a:endParaRPr>
          </a:p>
          <a:p>
            <a:pPr marL="0" lvl="2" indent="-285750" algn="just">
              <a:lnSpc>
                <a:spcPct val="125000"/>
              </a:lnSpc>
              <a:spcAft>
                <a:spcPts val="1200"/>
              </a:spcAft>
              <a:buSzPct val="100000"/>
              <a:buFont typeface="Arial" panose="020B0604020202020204" pitchFamily="34" charset="0"/>
              <a:buChar char="•"/>
            </a:pPr>
            <a:endParaRPr lang="en-US" sz="1700" dirty="0"/>
          </a:p>
          <a:p>
            <a:pPr marL="285750" indent="-285750" algn="just">
              <a:lnSpc>
                <a:spcPct val="125000"/>
              </a:lnSpc>
              <a:spcAft>
                <a:spcPts val="1200"/>
              </a:spcAft>
              <a:buSzPct val="100000"/>
              <a:buFont typeface="Arial" panose="020B0604020202020204" pitchFamily="34" charset="0"/>
              <a:buChar char="•"/>
            </a:pP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09" name="Text 0"/>
          <p:cNvSpPr/>
          <p:nvPr/>
        </p:nvSpPr>
        <p:spPr>
          <a:xfrm>
            <a:off x="457200" y="256032"/>
            <a:ext cx="11277295" cy="640080"/>
          </a:xfrm>
          <a:prstGeom prst="rect">
            <a:avLst/>
          </a:prstGeom>
          <a:noFill/>
        </p:spPr>
        <p:txBody>
          <a:bodyPr wrap="square" rtlCol="0" anchor="ctr"/>
          <a:lstStyle/>
          <a:p>
            <a:pPr marL="0" indent="0" algn="ctr">
              <a:buNone/>
            </a:pPr>
            <a:r>
              <a:rPr lang="en-US" sz="26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EXISTING SYSTEM – BLOCK DIAGRAM</a:t>
            </a:r>
            <a:endParaRPr lang="en-US" sz="2600" dirty="0"/>
          </a:p>
        </p:txBody>
      </p:sp>
      <p:sp>
        <p:nvSpPr>
          <p:cNvPr id="1048610" name="Shape 1"/>
          <p:cNvSpPr/>
          <p:nvPr/>
        </p:nvSpPr>
        <p:spPr>
          <a:xfrm>
            <a:off x="5090008" y="1234440"/>
            <a:ext cx="2926080" cy="594360"/>
          </a:xfrm>
          <a:prstGeom prst="roundRect">
            <a:avLst>
              <a:gd name="adj" fmla="val 12308"/>
            </a:avLst>
          </a:prstGeom>
          <a:solidFill>
            <a:srgbClr val="EAF1FB"/>
          </a:solidFill>
          <a:ln w="15875">
            <a:solidFill>
              <a:srgbClr val="1F4E79"/>
            </a:solidFill>
            <a:prstDash val="solid"/>
          </a:ln>
        </p:spPr>
      </p:sp>
      <p:sp>
        <p:nvSpPr>
          <p:cNvPr id="1048611" name="Text 2"/>
          <p:cNvSpPr/>
          <p:nvPr/>
        </p:nvSpPr>
        <p:spPr>
          <a:xfrm>
            <a:off x="5090008" y="1234440"/>
            <a:ext cx="2926080" cy="594360"/>
          </a:xfrm>
          <a:prstGeom prst="rect">
            <a:avLst/>
          </a:prstGeom>
          <a:noFill/>
        </p:spPr>
        <p:txBody>
          <a:bodyPr wrap="square" rtlCol="0" anchor="ctr"/>
          <a:lstStyle/>
          <a:p>
            <a:pPr marL="0" indent="0" algn="ctr">
              <a:buNone/>
            </a:pPr>
            <a:r>
              <a:rPr lang="en-US" sz="105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Power Supply Unit</a:t>
            </a:r>
            <a:endParaRPr lang="en-US" sz="1050" dirty="0"/>
          </a:p>
        </p:txBody>
      </p:sp>
      <p:sp>
        <p:nvSpPr>
          <p:cNvPr id="1048612" name="Shape 3"/>
          <p:cNvSpPr/>
          <p:nvPr/>
        </p:nvSpPr>
        <p:spPr>
          <a:xfrm>
            <a:off x="6553048" y="1828800"/>
            <a:ext cx="0" cy="502920"/>
          </a:xfrm>
          <a:prstGeom prst="line">
            <a:avLst/>
          </a:prstGeom>
          <a:noFill/>
          <a:ln w="19050">
            <a:solidFill>
              <a:srgbClr val="8C8C8C"/>
            </a:solidFill>
            <a:prstDash val="solid"/>
            <a:tailEnd type="triangle"/>
          </a:ln>
        </p:spPr>
      </p:sp>
      <p:sp>
        <p:nvSpPr>
          <p:cNvPr id="1048613" name="Shape 4"/>
          <p:cNvSpPr/>
          <p:nvPr/>
        </p:nvSpPr>
        <p:spPr>
          <a:xfrm>
            <a:off x="5090008" y="2331720"/>
            <a:ext cx="2926080" cy="594360"/>
          </a:xfrm>
          <a:prstGeom prst="roundRect">
            <a:avLst>
              <a:gd name="adj" fmla="val 12308"/>
            </a:avLst>
          </a:prstGeom>
          <a:solidFill>
            <a:srgbClr val="EAF1FB"/>
          </a:solidFill>
          <a:ln w="15875">
            <a:solidFill>
              <a:srgbClr val="1F4E79"/>
            </a:solidFill>
            <a:prstDash val="solid"/>
          </a:ln>
        </p:spPr>
      </p:sp>
      <p:sp>
        <p:nvSpPr>
          <p:cNvPr id="1048614" name="Text 5"/>
          <p:cNvSpPr/>
          <p:nvPr/>
        </p:nvSpPr>
        <p:spPr>
          <a:xfrm>
            <a:off x="5090008" y="2331720"/>
            <a:ext cx="2926080" cy="594360"/>
          </a:xfrm>
          <a:prstGeom prst="rect">
            <a:avLst/>
          </a:prstGeom>
          <a:noFill/>
        </p:spPr>
        <p:txBody>
          <a:bodyPr wrap="square" rtlCol="0" anchor="ctr"/>
          <a:lstStyle/>
          <a:p>
            <a:pPr marL="0" indent="0" algn="ctr">
              <a:buNone/>
            </a:pPr>
            <a:r>
              <a:rPr lang="en-US" sz="105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Respiration Sensor</a:t>
            </a:r>
            <a:endParaRPr lang="en-US" sz="1050" dirty="0"/>
          </a:p>
          <a:p>
            <a:pPr marL="0" indent="0" algn="ctr">
              <a:buNone/>
            </a:pPr>
            <a:r>
              <a:rPr lang="en-US" sz="105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(Piezoelectric)</a:t>
            </a:r>
            <a:endParaRPr lang="en-US" sz="1050" dirty="0"/>
          </a:p>
        </p:txBody>
      </p:sp>
      <p:sp>
        <p:nvSpPr>
          <p:cNvPr id="1048615" name="Shape 6"/>
          <p:cNvSpPr/>
          <p:nvPr/>
        </p:nvSpPr>
        <p:spPr>
          <a:xfrm>
            <a:off x="6553048" y="2926080"/>
            <a:ext cx="0" cy="502920"/>
          </a:xfrm>
          <a:prstGeom prst="line">
            <a:avLst/>
          </a:prstGeom>
          <a:noFill/>
          <a:ln w="19050">
            <a:solidFill>
              <a:srgbClr val="8C8C8C"/>
            </a:solidFill>
            <a:prstDash val="solid"/>
            <a:tailEnd type="triangle"/>
          </a:ln>
        </p:spPr>
      </p:sp>
      <p:sp>
        <p:nvSpPr>
          <p:cNvPr id="1048616" name="Shape 7"/>
          <p:cNvSpPr/>
          <p:nvPr/>
        </p:nvSpPr>
        <p:spPr>
          <a:xfrm>
            <a:off x="5090008" y="3429000"/>
            <a:ext cx="2926080" cy="594360"/>
          </a:xfrm>
          <a:prstGeom prst="roundRect">
            <a:avLst>
              <a:gd name="adj" fmla="val 12308"/>
            </a:avLst>
          </a:prstGeom>
          <a:solidFill>
            <a:srgbClr val="EAF1FB"/>
          </a:solidFill>
          <a:ln w="15875">
            <a:solidFill>
              <a:srgbClr val="1F4E79"/>
            </a:solidFill>
            <a:prstDash val="solid"/>
          </a:ln>
        </p:spPr>
      </p:sp>
      <p:sp>
        <p:nvSpPr>
          <p:cNvPr id="1048617" name="Text 8"/>
          <p:cNvSpPr/>
          <p:nvPr/>
        </p:nvSpPr>
        <p:spPr>
          <a:xfrm>
            <a:off x="5090008" y="3429000"/>
            <a:ext cx="2926080" cy="594360"/>
          </a:xfrm>
          <a:prstGeom prst="rect">
            <a:avLst/>
          </a:prstGeom>
          <a:noFill/>
        </p:spPr>
        <p:txBody>
          <a:bodyPr wrap="square" rtlCol="0" anchor="ctr"/>
          <a:lstStyle/>
          <a:p>
            <a:pPr marL="0" indent="0" algn="ctr">
              <a:buNone/>
            </a:pPr>
            <a:r>
              <a:rPr lang="en-US" sz="105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Arduino Microcontroller</a:t>
            </a:r>
            <a:endParaRPr lang="en-US" sz="1050" dirty="0"/>
          </a:p>
        </p:txBody>
      </p:sp>
      <p:sp>
        <p:nvSpPr>
          <p:cNvPr id="1048618" name="Shape 9"/>
          <p:cNvSpPr/>
          <p:nvPr/>
        </p:nvSpPr>
        <p:spPr>
          <a:xfrm>
            <a:off x="6553048" y="4023360"/>
            <a:ext cx="0" cy="502920"/>
          </a:xfrm>
          <a:prstGeom prst="line">
            <a:avLst/>
          </a:prstGeom>
          <a:noFill/>
          <a:ln w="19050">
            <a:solidFill>
              <a:srgbClr val="8C8C8C"/>
            </a:solidFill>
            <a:prstDash val="solid"/>
            <a:tailEnd type="triangle"/>
          </a:ln>
        </p:spPr>
      </p:sp>
      <p:sp>
        <p:nvSpPr>
          <p:cNvPr id="1048619" name="Shape 10"/>
          <p:cNvSpPr/>
          <p:nvPr/>
        </p:nvSpPr>
        <p:spPr>
          <a:xfrm>
            <a:off x="5090008" y="4526280"/>
            <a:ext cx="2926080" cy="594360"/>
          </a:xfrm>
          <a:prstGeom prst="roundRect">
            <a:avLst>
              <a:gd name="adj" fmla="val 12308"/>
            </a:avLst>
          </a:prstGeom>
          <a:solidFill>
            <a:srgbClr val="EAF1FB"/>
          </a:solidFill>
          <a:ln w="15875">
            <a:solidFill>
              <a:srgbClr val="1F4E79"/>
            </a:solidFill>
            <a:prstDash val="solid"/>
          </a:ln>
        </p:spPr>
      </p:sp>
      <p:sp>
        <p:nvSpPr>
          <p:cNvPr id="1048620" name="Text 11"/>
          <p:cNvSpPr/>
          <p:nvPr/>
        </p:nvSpPr>
        <p:spPr>
          <a:xfrm>
            <a:off x="5090008" y="4526280"/>
            <a:ext cx="2926080" cy="594360"/>
          </a:xfrm>
          <a:prstGeom prst="rect">
            <a:avLst/>
          </a:prstGeom>
          <a:noFill/>
        </p:spPr>
        <p:txBody>
          <a:bodyPr wrap="square" rtlCol="0" anchor="ctr"/>
          <a:lstStyle/>
          <a:p>
            <a:pPr marL="0" indent="0" algn="ctr">
              <a:buNone/>
            </a:pPr>
            <a:r>
              <a:rPr lang="en-US" sz="105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GSM Module</a:t>
            </a:r>
            <a:endParaRPr lang="en-US" sz="1050" dirty="0"/>
          </a:p>
        </p:txBody>
      </p:sp>
      <p:sp>
        <p:nvSpPr>
          <p:cNvPr id="1048621" name="Shape 12"/>
          <p:cNvSpPr/>
          <p:nvPr/>
        </p:nvSpPr>
        <p:spPr>
          <a:xfrm>
            <a:off x="6553048" y="5120640"/>
            <a:ext cx="0" cy="502920"/>
          </a:xfrm>
          <a:prstGeom prst="line">
            <a:avLst/>
          </a:prstGeom>
          <a:noFill/>
          <a:ln w="19050">
            <a:solidFill>
              <a:srgbClr val="8C8C8C"/>
            </a:solidFill>
            <a:prstDash val="solid"/>
            <a:tailEnd type="triangle"/>
          </a:ln>
        </p:spPr>
      </p:sp>
      <p:sp>
        <p:nvSpPr>
          <p:cNvPr id="1048622" name="Shape 13"/>
          <p:cNvSpPr/>
          <p:nvPr/>
        </p:nvSpPr>
        <p:spPr>
          <a:xfrm>
            <a:off x="5090008" y="5623560"/>
            <a:ext cx="2926080" cy="594360"/>
          </a:xfrm>
          <a:prstGeom prst="roundRect">
            <a:avLst>
              <a:gd name="adj" fmla="val 12308"/>
            </a:avLst>
          </a:prstGeom>
          <a:solidFill>
            <a:srgbClr val="FDEBD0"/>
          </a:solidFill>
          <a:ln w="15875">
            <a:solidFill>
              <a:srgbClr val="B7791F"/>
            </a:solidFill>
            <a:prstDash val="solid"/>
          </a:ln>
        </p:spPr>
      </p:sp>
      <p:sp>
        <p:nvSpPr>
          <p:cNvPr id="1048623" name="Text 14"/>
          <p:cNvSpPr/>
          <p:nvPr/>
        </p:nvSpPr>
        <p:spPr>
          <a:xfrm>
            <a:off x="5090008" y="5623560"/>
            <a:ext cx="2926080" cy="594360"/>
          </a:xfrm>
          <a:prstGeom prst="rect">
            <a:avLst/>
          </a:prstGeom>
          <a:noFill/>
        </p:spPr>
        <p:txBody>
          <a:bodyPr wrap="square" rtlCol="0" anchor="ctr"/>
          <a:lstStyle/>
          <a:p>
            <a:pPr marL="0" indent="0" algn="ctr">
              <a:buNone/>
            </a:pPr>
            <a:r>
              <a:rPr lang="en-US" sz="1050" b="1" dirty="0">
                <a:solidFill>
                  <a:srgbClr val="B7791F"/>
                </a:solidFill>
                <a:latin typeface="Times New Roman" panose="02020603050405020304" pitchFamily="34" charset="0"/>
                <a:ea typeface="Times New Roman" panose="02020603050405020304" pitchFamily="34" charset="-122"/>
                <a:cs typeface="Times New Roman" panose="02020603050405020304" pitchFamily="34" charset="-120"/>
              </a:rPr>
              <a:t>SMS Alert to Caregiver</a:t>
            </a:r>
            <a:endParaRPr lang="en-US" sz="1050" dirty="0"/>
          </a:p>
        </p:txBody>
      </p:sp>
      <p:sp>
        <p:nvSpPr>
          <p:cNvPr id="1048624" name="Shape 15"/>
          <p:cNvSpPr/>
          <p:nvPr/>
        </p:nvSpPr>
        <p:spPr>
          <a:xfrm>
            <a:off x="8016088" y="3726180"/>
            <a:ext cx="1463040" cy="0"/>
          </a:xfrm>
          <a:prstGeom prst="line">
            <a:avLst/>
          </a:prstGeom>
          <a:noFill/>
          <a:ln w="19050">
            <a:solidFill>
              <a:srgbClr val="8C8C8C"/>
            </a:solidFill>
            <a:prstDash val="solid"/>
            <a:tailEnd type="triangle"/>
          </a:ln>
        </p:spPr>
      </p:sp>
      <p:sp>
        <p:nvSpPr>
          <p:cNvPr id="1048625" name="Shape 16"/>
          <p:cNvSpPr/>
          <p:nvPr/>
        </p:nvSpPr>
        <p:spPr>
          <a:xfrm>
            <a:off x="9479128" y="3383280"/>
            <a:ext cx="2011680" cy="502920"/>
          </a:xfrm>
          <a:prstGeom prst="roundRect">
            <a:avLst>
              <a:gd name="adj" fmla="val 14545"/>
            </a:avLst>
          </a:prstGeom>
          <a:solidFill>
            <a:srgbClr val="EAF1FB"/>
          </a:solidFill>
          <a:ln w="15875">
            <a:solidFill>
              <a:srgbClr val="1F4E79"/>
            </a:solidFill>
            <a:prstDash val="solid"/>
          </a:ln>
        </p:spPr>
      </p:sp>
      <p:sp>
        <p:nvSpPr>
          <p:cNvPr id="1048626" name="Text 17"/>
          <p:cNvSpPr/>
          <p:nvPr/>
        </p:nvSpPr>
        <p:spPr>
          <a:xfrm>
            <a:off x="9479128" y="3383280"/>
            <a:ext cx="2011680" cy="502920"/>
          </a:xfrm>
          <a:prstGeom prst="rect">
            <a:avLst/>
          </a:prstGeom>
          <a:noFill/>
        </p:spPr>
        <p:txBody>
          <a:bodyPr wrap="square" rtlCol="0" anchor="ctr"/>
          <a:lstStyle/>
          <a:p>
            <a:pPr marL="0" indent="0" algn="ctr">
              <a:buNone/>
            </a:pPr>
            <a:r>
              <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16x2 LCD Display</a:t>
            </a:r>
            <a:endParaRPr lang="en-US" sz="1000" dirty="0"/>
          </a:p>
        </p:txBody>
      </p:sp>
      <p:sp>
        <p:nvSpPr>
          <p:cNvPr id="1048627" name="Shape 18"/>
          <p:cNvSpPr/>
          <p:nvPr/>
        </p:nvSpPr>
        <p:spPr>
          <a:xfrm>
            <a:off x="8016088" y="3726180"/>
            <a:ext cx="1463040" cy="822960"/>
          </a:xfrm>
          <a:prstGeom prst="line">
            <a:avLst/>
          </a:prstGeom>
          <a:noFill/>
          <a:ln w="19050">
            <a:solidFill>
              <a:srgbClr val="8C8C8C"/>
            </a:solidFill>
            <a:prstDash val="solid"/>
            <a:tailEnd type="triangle"/>
          </a:ln>
        </p:spPr>
      </p:sp>
      <p:sp>
        <p:nvSpPr>
          <p:cNvPr id="1048628" name="Shape 19"/>
          <p:cNvSpPr/>
          <p:nvPr/>
        </p:nvSpPr>
        <p:spPr>
          <a:xfrm>
            <a:off x="9479128" y="4206240"/>
            <a:ext cx="2011680" cy="502920"/>
          </a:xfrm>
          <a:prstGeom prst="roundRect">
            <a:avLst>
              <a:gd name="adj" fmla="val 14545"/>
            </a:avLst>
          </a:prstGeom>
          <a:solidFill>
            <a:srgbClr val="EAF1FB"/>
          </a:solidFill>
          <a:ln w="15875">
            <a:solidFill>
              <a:srgbClr val="1F4E79"/>
            </a:solidFill>
            <a:prstDash val="solid"/>
          </a:ln>
        </p:spPr>
      </p:sp>
      <p:sp>
        <p:nvSpPr>
          <p:cNvPr id="1048629" name="Text 20"/>
          <p:cNvSpPr/>
          <p:nvPr/>
        </p:nvSpPr>
        <p:spPr>
          <a:xfrm>
            <a:off x="9479128" y="4206240"/>
            <a:ext cx="2011680" cy="502920"/>
          </a:xfrm>
          <a:prstGeom prst="rect">
            <a:avLst/>
          </a:prstGeom>
          <a:noFill/>
        </p:spPr>
        <p:txBody>
          <a:bodyPr wrap="square" rtlCol="0" anchor="ctr"/>
          <a:lstStyle/>
          <a:p>
            <a:pPr marL="0" indent="0" algn="ctr">
              <a:buNone/>
            </a:pPr>
            <a:r>
              <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Buzzer (Local Alarm)</a:t>
            </a:r>
            <a:endParaRPr lang="en-US" sz="1000" dirty="0"/>
          </a:p>
        </p:txBody>
      </p:sp>
      <p:sp>
        <p:nvSpPr>
          <p:cNvPr id="1048630" name="Text 21"/>
          <p:cNvSpPr/>
          <p:nvPr/>
        </p:nvSpPr>
        <p:spPr>
          <a:xfrm>
            <a:off x="548640" y="6172200"/>
            <a:ext cx="11094415" cy="457200"/>
          </a:xfrm>
          <a:prstGeom prst="rect">
            <a:avLst/>
          </a:prstGeom>
          <a:noFill/>
        </p:spPr>
        <p:txBody>
          <a:bodyPr wrap="square" rtlCol="0" anchor="ctr"/>
          <a:lstStyle/>
          <a:p>
            <a:pPr marL="0" indent="0" algn="ctr">
              <a:buNone/>
            </a:pPr>
            <a:r>
              <a:rPr lang="en-US" sz="1200" i="1"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34" name="Text 0"/>
          <p:cNvSpPr/>
          <p:nvPr/>
        </p:nvSpPr>
        <p:spPr>
          <a:xfrm>
            <a:off x="457200" y="256032"/>
            <a:ext cx="11277295" cy="640080"/>
          </a:xfrm>
          <a:prstGeom prst="rect">
            <a:avLst/>
          </a:prstGeom>
          <a:noFill/>
        </p:spPr>
        <p:txBody>
          <a:bodyPr wrap="square" rtlCol="0" anchor="ctr"/>
          <a:lstStyle/>
          <a:p>
            <a:pPr marL="0" indent="0" algn="ctr">
              <a:buNone/>
            </a:pPr>
            <a:r>
              <a:rPr lang="en-US" sz="30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DISADVANTAGES OF EXISTING SYSTEM</a:t>
            </a:r>
            <a:endParaRPr lang="en-US" sz="3000" dirty="0"/>
          </a:p>
        </p:txBody>
      </p:sp>
      <p:sp>
        <p:nvSpPr>
          <p:cNvPr id="1048635" name="Text 1"/>
          <p:cNvSpPr/>
          <p:nvPr/>
        </p:nvSpPr>
        <p:spPr>
          <a:xfrm>
            <a:off x="640080" y="1051560"/>
            <a:ext cx="10911535" cy="5486400"/>
          </a:xfrm>
          <a:prstGeom prst="rect">
            <a:avLst/>
          </a:prstGeom>
          <a:noFill/>
        </p:spPr>
        <p:txBody>
          <a:bodyPr wrap="square" rtlCol="0" anchor="t"/>
          <a:lstStyle/>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Single-Parameter Focus – Most devices track only respiration or only SpO2/heart rate, without fusing multiple vitals for reliable early warning.</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Limited Portability – Wired, multi-sensor hospital systems restrict patient movement and are unsuitable for day-to-day wearable use.</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GSM Dependency &amp; Cost – SMS-based alerts require an active SIM connection, adding recurring cost and network-dependent delay.</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No Cloud Analytics – Data is rarely logged centrally, so caregivers cannot review historical trends or long-term patterns.</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Manual Calibration – Existing devices need manual threshold adjustment and lack automatic self-checking across sessions.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Text 0"/>
          <p:cNvSpPr/>
          <p:nvPr/>
        </p:nvSpPr>
        <p:spPr>
          <a:xfrm>
            <a:off x="457200" y="256032"/>
            <a:ext cx="11277295" cy="640080"/>
          </a:xfrm>
          <a:prstGeom prst="rect">
            <a:avLst/>
          </a:prstGeom>
          <a:noFill/>
        </p:spPr>
        <p:txBody>
          <a:bodyPr wrap="square" rtlCol="0" anchor="ctr"/>
          <a:lstStyle/>
          <a:p>
            <a:pPr marL="0" indent="0" algn="ctr">
              <a:buNone/>
            </a:pPr>
            <a:r>
              <a:rPr lang="en-US" sz="30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PROBLEM STATEMENT</a:t>
            </a:r>
            <a:endParaRPr lang="en-US" sz="3000" dirty="0"/>
          </a:p>
        </p:txBody>
      </p:sp>
      <p:sp>
        <p:nvSpPr>
          <p:cNvPr id="1048640" name="Text 1"/>
          <p:cNvSpPr/>
          <p:nvPr/>
        </p:nvSpPr>
        <p:spPr>
          <a:xfrm>
            <a:off x="640080" y="1051560"/>
            <a:ext cx="10911535" cy="5486400"/>
          </a:xfrm>
          <a:prstGeom prst="rect">
            <a:avLst/>
          </a:prstGeom>
          <a:noFill/>
        </p:spPr>
        <p:txBody>
          <a:bodyPr wrap="square" rtlCol="0" anchor="t"/>
          <a:lstStyle/>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Respiratory abnormalities such as apnea, bradypnea, and tachypnea often progress unnoticed until they become severe, particularly outside hospital settings.</a:t>
            </a:r>
            <a:endParaRPr lang="en-US" sz="2400" dirty="0"/>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Existing hospital-grade monitors are bulky, wired, and confined to ICU or ward use, making them impractical for continuous home or elderly-care monitoring.</a:t>
            </a:r>
            <a:endParaRPr lang="en-US" sz="2400" dirty="0"/>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Consumer smartwatches estimate heart rate and SpO2 but are not clinically validated and lack dedicated respiratory-rate tracking or early-warning alerts.</a:t>
            </a:r>
            <a:endParaRPr lang="en-US" sz="2400" dirty="0"/>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Devices that rely on GSM/SMS-based alerts add recurring SIM cost and delay, instead of instant, low-cost cloud-based notifications.</a:t>
            </a:r>
            <a:endParaRPr lang="en-US" sz="2400" dirty="0"/>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There is a clear need for an affordable, compact, and low-power wearable that continuously and reliably detects abnormal respiratory patterns and alerts caregivers in real time.</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39" name="Text 0"/>
          <p:cNvSpPr/>
          <p:nvPr/>
        </p:nvSpPr>
        <p:spPr>
          <a:xfrm>
            <a:off x="457200" y="256032"/>
            <a:ext cx="11277295" cy="640080"/>
          </a:xfrm>
          <a:prstGeom prst="rect">
            <a:avLst/>
          </a:prstGeom>
          <a:noFill/>
        </p:spPr>
        <p:txBody>
          <a:bodyPr wrap="square" rtlCol="0" anchor="ctr"/>
          <a:lstStyle/>
          <a:p>
            <a:pPr marL="0" indent="0" algn="ctr">
              <a:buNone/>
            </a:pPr>
            <a:r>
              <a:rPr lang="en-US" sz="30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PROPOSED SYSTEM</a:t>
            </a:r>
            <a:endParaRPr lang="en-US" sz="3000" dirty="0"/>
          </a:p>
        </p:txBody>
      </p:sp>
      <p:sp>
        <p:nvSpPr>
          <p:cNvPr id="1048640" name="Text 1"/>
          <p:cNvSpPr/>
          <p:nvPr/>
        </p:nvSpPr>
        <p:spPr>
          <a:xfrm>
            <a:off x="640080" y="1051560"/>
            <a:ext cx="10911535" cy="5486400"/>
          </a:xfrm>
          <a:prstGeom prst="rect">
            <a:avLst/>
          </a:prstGeom>
          <a:noFill/>
        </p:spPr>
        <p:txBody>
          <a:bodyPr wrap="square" rtlCol="0" anchor="t"/>
          <a:lstStyle/>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A wearable unit fuses a flexible respiration sensor, a MAX30102 SpO2/heart-rate sensor, and a body-temperature sensor around a low-power ESP32 microcontroller.</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The ESP32 computes real-time respiratory rate and cross-checks it against SpO2 and heart-rate trends to classify normal, bradypnea, tachypnea, or apnea patterns.</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WiFi/BLE connectivity streams live data to a cloud dashboard and companion mobile app, maintaining a continuous history for caregivers.</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On detecting an abnormal multi-parameter pattern, the device instantly triggers a local vibration/buzzer alert and a push notification to the caregiver’s phone.</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A rechargeable Li-Po battery and compact chest-strap/wrist form factor make the device suitable for continuous, all-day wearable monitoring</a:t>
            </a:r>
            <a:r>
              <a:rPr lang="en-US" sz="17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44" name="Text 0"/>
          <p:cNvSpPr/>
          <p:nvPr/>
        </p:nvSpPr>
        <p:spPr>
          <a:xfrm>
            <a:off x="457200" y="256032"/>
            <a:ext cx="11277295" cy="640080"/>
          </a:xfrm>
          <a:prstGeom prst="rect">
            <a:avLst/>
          </a:prstGeom>
          <a:noFill/>
        </p:spPr>
        <p:txBody>
          <a:bodyPr wrap="square" rtlCol="0" anchor="ctr"/>
          <a:lstStyle/>
          <a:p>
            <a:pPr marL="0" indent="0" algn="ctr">
              <a:buNone/>
            </a:pPr>
            <a:r>
              <a:rPr lang="en-US" sz="26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PROPOSED SYSTEM – BLOCK DIAGRAM</a:t>
            </a:r>
            <a:endParaRPr lang="en-US" sz="2600" dirty="0"/>
          </a:p>
        </p:txBody>
      </p:sp>
      <p:sp>
        <p:nvSpPr>
          <p:cNvPr id="1048645" name="Shape 1"/>
          <p:cNvSpPr/>
          <p:nvPr/>
        </p:nvSpPr>
        <p:spPr>
          <a:xfrm>
            <a:off x="1099820" y="1495425"/>
            <a:ext cx="2491740" cy="675640"/>
          </a:xfrm>
          <a:prstGeom prst="roundRect">
            <a:avLst>
              <a:gd name="adj" fmla="val 12903"/>
            </a:avLst>
          </a:prstGeom>
          <a:solidFill>
            <a:srgbClr val="EAF1FB"/>
          </a:solidFill>
          <a:ln w="15875">
            <a:solidFill>
              <a:srgbClr val="1F4E79"/>
            </a:solidFill>
            <a:prstDash val="solid"/>
          </a:ln>
        </p:spPr>
        <p:txBody>
          <a:bodyPr/>
          <a:lstStyle/>
          <a:p>
            <a:endParaRPr lang="en-US"/>
          </a:p>
        </p:txBody>
      </p:sp>
      <p:sp>
        <p:nvSpPr>
          <p:cNvPr id="1048646" name="Text 2"/>
          <p:cNvSpPr/>
          <p:nvPr/>
        </p:nvSpPr>
        <p:spPr>
          <a:xfrm>
            <a:off x="901700" y="1366520"/>
            <a:ext cx="2468880" cy="566928"/>
          </a:xfrm>
          <a:prstGeom prst="rect">
            <a:avLst/>
          </a:prstGeom>
          <a:noFill/>
        </p:spPr>
        <p:txBody>
          <a:bodyPr wrap="square" rtlCol="0" anchor="ctr"/>
          <a:lstStyle/>
          <a:p>
            <a:pPr marL="0" indent="0" algn="ctr">
              <a:buNone/>
            </a:pPr>
            <a:endPar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endParaRPr>
          </a:p>
          <a:p>
            <a:pPr marL="0" indent="0" algn="ctr">
              <a:buNone/>
            </a:pPr>
            <a:endPar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endParaRPr>
          </a:p>
          <a:p>
            <a:pPr marL="0" indent="0" algn="ctr">
              <a:buNone/>
            </a:pPr>
            <a:r>
              <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Piezoelectric</a:t>
            </a:r>
            <a:endParaRPr lang="en-US" sz="1000" dirty="0"/>
          </a:p>
          <a:p>
            <a:pPr marL="0" indent="0" algn="ctr">
              <a:buNone/>
            </a:pPr>
            <a:r>
              <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Respiration Sensor</a:t>
            </a:r>
            <a:endParaRPr lang="en-US" sz="1000" dirty="0"/>
          </a:p>
        </p:txBody>
      </p:sp>
      <p:sp>
        <p:nvSpPr>
          <p:cNvPr id="1048647" name="Shape 3"/>
          <p:cNvSpPr/>
          <p:nvPr/>
        </p:nvSpPr>
        <p:spPr>
          <a:xfrm>
            <a:off x="1122680" y="2441448"/>
            <a:ext cx="2468880" cy="566928"/>
          </a:xfrm>
          <a:prstGeom prst="roundRect">
            <a:avLst>
              <a:gd name="adj" fmla="val 12903"/>
            </a:avLst>
          </a:prstGeom>
          <a:solidFill>
            <a:srgbClr val="EAF1FB"/>
          </a:solidFill>
          <a:ln w="15875">
            <a:solidFill>
              <a:srgbClr val="1F4E79"/>
            </a:solidFill>
            <a:prstDash val="solid"/>
          </a:ln>
        </p:spPr>
      </p:sp>
      <p:sp>
        <p:nvSpPr>
          <p:cNvPr id="1048648" name="Text 4"/>
          <p:cNvSpPr/>
          <p:nvPr/>
        </p:nvSpPr>
        <p:spPr>
          <a:xfrm>
            <a:off x="502920" y="2121408"/>
            <a:ext cx="2468880" cy="566928"/>
          </a:xfrm>
          <a:prstGeom prst="rect">
            <a:avLst/>
          </a:prstGeom>
          <a:noFill/>
        </p:spPr>
        <p:txBody>
          <a:bodyPr wrap="square" rtlCol="0" anchor="ctr"/>
          <a:lstStyle/>
          <a:p>
            <a:pPr marL="0" indent="0" algn="ctr">
              <a:buNone/>
            </a:pPr>
            <a:endPar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endParaRPr>
          </a:p>
          <a:p>
            <a:pPr marL="0" indent="0" algn="ctr">
              <a:buNone/>
            </a:pPr>
            <a:endPar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endParaRPr>
          </a:p>
          <a:p>
            <a:pPr marL="0" indent="0" algn="ctr">
              <a:buNone/>
            </a:pPr>
            <a:endPar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endParaRPr>
          </a:p>
          <a:p>
            <a:pPr marL="0" indent="0" algn="ctr">
              <a:buNone/>
            </a:pPr>
            <a:endPar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endParaRPr>
          </a:p>
          <a:p>
            <a:pPr marL="0" indent="0" algn="r">
              <a:buNone/>
            </a:pPr>
            <a:r>
              <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MAX30102</a:t>
            </a:r>
            <a:endParaRPr lang="en-US" sz="1000" dirty="0"/>
          </a:p>
          <a:p>
            <a:pPr marL="0" indent="0" algn="r">
              <a:buNone/>
            </a:pPr>
            <a:r>
              <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(SpO2 &amp; Heart Rate)</a:t>
            </a:r>
            <a:endParaRPr lang="en-US" sz="1000" dirty="0"/>
          </a:p>
        </p:txBody>
      </p:sp>
      <p:sp>
        <p:nvSpPr>
          <p:cNvPr id="1048649" name="Shape 5"/>
          <p:cNvSpPr/>
          <p:nvPr/>
        </p:nvSpPr>
        <p:spPr>
          <a:xfrm>
            <a:off x="1092200" y="3167761"/>
            <a:ext cx="2468880" cy="566928"/>
          </a:xfrm>
          <a:prstGeom prst="roundRect">
            <a:avLst>
              <a:gd name="adj" fmla="val 12903"/>
            </a:avLst>
          </a:prstGeom>
          <a:solidFill>
            <a:srgbClr val="EAF1FB"/>
          </a:solidFill>
          <a:ln w="15875">
            <a:solidFill>
              <a:srgbClr val="1F4E79"/>
            </a:solidFill>
            <a:prstDash val="solid"/>
          </a:ln>
        </p:spPr>
        <p:txBody>
          <a:bodyPr/>
          <a:lstStyle/>
          <a:p>
            <a:endParaRPr lang="en-US"/>
          </a:p>
        </p:txBody>
      </p:sp>
      <p:sp>
        <p:nvSpPr>
          <p:cNvPr id="1048650" name="Text 6"/>
          <p:cNvSpPr/>
          <p:nvPr/>
        </p:nvSpPr>
        <p:spPr>
          <a:xfrm>
            <a:off x="502920" y="3008376"/>
            <a:ext cx="2468880" cy="566928"/>
          </a:xfrm>
          <a:prstGeom prst="rect">
            <a:avLst/>
          </a:prstGeom>
          <a:noFill/>
        </p:spPr>
        <p:txBody>
          <a:bodyPr wrap="square" rtlCol="0" anchor="ctr"/>
          <a:lstStyle/>
          <a:p>
            <a:pPr marL="0" indent="0" algn="ctr">
              <a:buNone/>
            </a:pPr>
            <a:endPar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endParaRPr>
          </a:p>
          <a:p>
            <a:pPr marL="0" indent="0" algn="ctr">
              <a:buNone/>
            </a:pPr>
            <a:endPar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endParaRPr>
          </a:p>
          <a:p>
            <a:pPr marL="0" indent="0" algn="ctr">
              <a:buNone/>
            </a:pPr>
            <a:endPar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sym typeface="+mn-ea"/>
            </a:endParaRPr>
          </a:p>
          <a:p>
            <a:pPr marL="0" indent="0" algn="ctr">
              <a:buNone/>
            </a:pPr>
            <a:r>
              <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sym typeface="+mn-ea"/>
              </a:rPr>
              <a:t>Body Temperature</a:t>
            </a:r>
            <a:endParaRPr lang="en-US" sz="1000" dirty="0"/>
          </a:p>
          <a:p>
            <a:pPr marL="0" indent="0" algn="ctr">
              <a:buNone/>
            </a:pPr>
            <a:r>
              <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sym typeface="+mn-ea"/>
              </a:rPr>
              <a:t>Sensor (DS18B20</a:t>
            </a:r>
            <a:endParaRPr lang="en-US" sz="1000" dirty="0"/>
          </a:p>
        </p:txBody>
      </p:sp>
      <p:sp>
        <p:nvSpPr>
          <p:cNvPr id="1048651" name="Shape 7"/>
          <p:cNvSpPr/>
          <p:nvPr/>
        </p:nvSpPr>
        <p:spPr>
          <a:xfrm>
            <a:off x="1112520" y="3894074"/>
            <a:ext cx="2468880" cy="566928"/>
          </a:xfrm>
          <a:prstGeom prst="roundRect">
            <a:avLst>
              <a:gd name="adj" fmla="val 12903"/>
            </a:avLst>
          </a:prstGeom>
          <a:solidFill>
            <a:srgbClr val="E8F5E9"/>
          </a:solidFill>
          <a:ln w="15875">
            <a:solidFill>
              <a:srgbClr val="1E8449"/>
            </a:solidFill>
            <a:prstDash val="solid"/>
          </a:ln>
        </p:spPr>
      </p:sp>
      <p:sp>
        <p:nvSpPr>
          <p:cNvPr id="1048652" name="Text 8"/>
          <p:cNvSpPr/>
          <p:nvPr/>
        </p:nvSpPr>
        <p:spPr>
          <a:xfrm>
            <a:off x="502920" y="3895344"/>
            <a:ext cx="2468880" cy="566928"/>
          </a:xfrm>
          <a:prstGeom prst="rect">
            <a:avLst/>
          </a:prstGeom>
          <a:noFill/>
        </p:spPr>
        <p:txBody>
          <a:bodyPr wrap="square" rtlCol="0" anchor="ctr"/>
          <a:lstStyle/>
          <a:p>
            <a:pPr marL="0" indent="0" algn="ctr">
              <a:buNone/>
            </a:pPr>
            <a:r>
              <a:rPr lang="en-US" sz="1000" b="1" dirty="0">
                <a:solidFill>
                  <a:srgbClr val="1E8449"/>
                </a:solidFill>
                <a:latin typeface="Times New Roman" panose="02020603050405020304" pitchFamily="34" charset="0"/>
                <a:ea typeface="Times New Roman" panose="02020603050405020304" pitchFamily="34" charset="-122"/>
                <a:cs typeface="Times New Roman" panose="02020603050405020304" pitchFamily="34" charset="-120"/>
              </a:rPr>
              <a:t>Li-Po Battery +</a:t>
            </a:r>
            <a:endParaRPr lang="en-US" sz="1000" dirty="0"/>
          </a:p>
          <a:p>
            <a:pPr marL="0" indent="0" algn="ctr">
              <a:buNone/>
            </a:pPr>
            <a:r>
              <a:rPr lang="en-US" sz="1000" b="1" dirty="0">
                <a:solidFill>
                  <a:srgbClr val="1E8449"/>
                </a:solidFill>
                <a:latin typeface="Times New Roman" panose="02020603050405020304" pitchFamily="34" charset="0"/>
                <a:ea typeface="Times New Roman" panose="02020603050405020304" pitchFamily="34" charset="-122"/>
                <a:cs typeface="Times New Roman" panose="02020603050405020304" pitchFamily="34" charset="-120"/>
              </a:rPr>
              <a:t>TP4056 Charging</a:t>
            </a:r>
            <a:endParaRPr lang="en-US" sz="1000" dirty="0"/>
          </a:p>
        </p:txBody>
      </p:sp>
      <p:sp>
        <p:nvSpPr>
          <p:cNvPr id="1048653" name="Shape 9"/>
          <p:cNvSpPr/>
          <p:nvPr/>
        </p:nvSpPr>
        <p:spPr>
          <a:xfrm>
            <a:off x="4516120" y="1791970"/>
            <a:ext cx="2103120" cy="2377440"/>
          </a:xfrm>
          <a:prstGeom prst="roundRect">
            <a:avLst>
              <a:gd name="adj" fmla="val 3478"/>
            </a:avLst>
          </a:prstGeom>
          <a:solidFill>
            <a:srgbClr val="EAF1FB"/>
          </a:solidFill>
          <a:ln w="15875">
            <a:solidFill>
              <a:srgbClr val="1F4E79"/>
            </a:solidFill>
            <a:prstDash val="solid"/>
          </a:ln>
        </p:spPr>
      </p:sp>
      <p:sp>
        <p:nvSpPr>
          <p:cNvPr id="1048654" name="Text 10"/>
          <p:cNvSpPr/>
          <p:nvPr/>
        </p:nvSpPr>
        <p:spPr>
          <a:xfrm>
            <a:off x="3886200" y="1737360"/>
            <a:ext cx="2103120" cy="2377440"/>
          </a:xfrm>
          <a:prstGeom prst="rect">
            <a:avLst/>
          </a:prstGeom>
          <a:noFill/>
        </p:spPr>
        <p:txBody>
          <a:bodyPr wrap="square" rtlCol="0" anchor="ctr"/>
          <a:lstStyle/>
          <a:p>
            <a:pPr marL="0" indent="0" algn="r">
              <a:buNone/>
            </a:pPr>
            <a:r>
              <a:rPr lang="en-US" sz="12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ESP32</a:t>
            </a:r>
            <a:endParaRPr lang="en-US" sz="1200" dirty="0"/>
          </a:p>
          <a:p>
            <a:pPr marL="0" indent="0" algn="r">
              <a:buNone/>
            </a:pPr>
            <a:r>
              <a:rPr lang="en-US" sz="12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Microcontroller</a:t>
            </a:r>
            <a:endParaRPr lang="en-US" sz="1200" dirty="0"/>
          </a:p>
          <a:p>
            <a:pPr marL="0" indent="0" algn="r">
              <a:buNone/>
            </a:pPr>
            <a:r>
              <a:rPr lang="en-US" sz="12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(WiFi + BLE)</a:t>
            </a:r>
            <a:endParaRPr lang="en-US" sz="1200" dirty="0"/>
          </a:p>
        </p:txBody>
      </p:sp>
      <p:sp>
        <p:nvSpPr>
          <p:cNvPr id="1048655" name="Shape 11"/>
          <p:cNvSpPr/>
          <p:nvPr/>
        </p:nvSpPr>
        <p:spPr>
          <a:xfrm>
            <a:off x="3591560" y="2020824"/>
            <a:ext cx="914400" cy="905256"/>
          </a:xfrm>
          <a:prstGeom prst="line">
            <a:avLst/>
          </a:prstGeom>
          <a:noFill/>
          <a:ln w="19050">
            <a:solidFill>
              <a:srgbClr val="8C8C8C"/>
            </a:solidFill>
            <a:prstDash val="solid"/>
            <a:tailEnd type="triangle"/>
          </a:ln>
        </p:spPr>
      </p:sp>
      <p:sp>
        <p:nvSpPr>
          <p:cNvPr id="1048656" name="Shape 12"/>
          <p:cNvSpPr/>
          <p:nvPr/>
        </p:nvSpPr>
        <p:spPr>
          <a:xfrm>
            <a:off x="3591560" y="2770632"/>
            <a:ext cx="914400" cy="521208"/>
          </a:xfrm>
          <a:prstGeom prst="line">
            <a:avLst/>
          </a:prstGeom>
          <a:noFill/>
          <a:ln w="19050">
            <a:solidFill>
              <a:srgbClr val="8C8C8C"/>
            </a:solidFill>
            <a:prstDash val="solid"/>
            <a:tailEnd type="triangle"/>
          </a:ln>
        </p:spPr>
      </p:sp>
      <p:sp>
        <p:nvSpPr>
          <p:cNvPr id="1048657" name="Shape 13"/>
          <p:cNvSpPr/>
          <p:nvPr/>
        </p:nvSpPr>
        <p:spPr>
          <a:xfrm>
            <a:off x="3591560" y="3429000"/>
            <a:ext cx="914400" cy="137160"/>
          </a:xfrm>
          <a:prstGeom prst="line">
            <a:avLst/>
          </a:prstGeom>
          <a:noFill/>
          <a:ln w="19050">
            <a:solidFill>
              <a:srgbClr val="8C8C8C"/>
            </a:solidFill>
            <a:prstDash val="solid"/>
            <a:tailEnd type="triangle"/>
          </a:ln>
        </p:spPr>
      </p:sp>
      <p:sp>
        <p:nvSpPr>
          <p:cNvPr id="1048658" name="Shape 14"/>
          <p:cNvSpPr/>
          <p:nvPr/>
        </p:nvSpPr>
        <p:spPr>
          <a:xfrm flipV="1">
            <a:off x="3591560" y="3749040"/>
            <a:ext cx="914400" cy="429768"/>
          </a:xfrm>
          <a:prstGeom prst="line">
            <a:avLst/>
          </a:prstGeom>
          <a:noFill/>
          <a:ln w="19050">
            <a:solidFill>
              <a:srgbClr val="1E8449"/>
            </a:solidFill>
            <a:prstDash val="solid"/>
            <a:tailEnd type="none"/>
          </a:ln>
        </p:spPr>
      </p:sp>
      <p:sp>
        <p:nvSpPr>
          <p:cNvPr id="1048659" name="Shape 15"/>
          <p:cNvSpPr/>
          <p:nvPr/>
        </p:nvSpPr>
        <p:spPr>
          <a:xfrm>
            <a:off x="7612380" y="1224915"/>
            <a:ext cx="2651760" cy="566928"/>
          </a:xfrm>
          <a:prstGeom prst="roundRect">
            <a:avLst>
              <a:gd name="adj" fmla="val 12903"/>
            </a:avLst>
          </a:prstGeom>
          <a:solidFill>
            <a:srgbClr val="EAF1FB"/>
          </a:solidFill>
          <a:ln w="15875">
            <a:solidFill>
              <a:srgbClr val="1F4E79"/>
            </a:solidFill>
            <a:prstDash val="solid"/>
          </a:ln>
        </p:spPr>
        <p:txBody>
          <a:bodyPr/>
          <a:lstStyle/>
          <a:p>
            <a:endParaRPr lang="en-US"/>
          </a:p>
        </p:txBody>
      </p:sp>
      <p:sp>
        <p:nvSpPr>
          <p:cNvPr id="1048660" name="Text 16"/>
          <p:cNvSpPr/>
          <p:nvPr/>
        </p:nvSpPr>
        <p:spPr>
          <a:xfrm>
            <a:off x="6903720" y="1234440"/>
            <a:ext cx="2651760" cy="566928"/>
          </a:xfrm>
          <a:prstGeom prst="rect">
            <a:avLst/>
          </a:prstGeom>
          <a:noFill/>
        </p:spPr>
        <p:txBody>
          <a:bodyPr wrap="square" rtlCol="0" anchor="ctr"/>
          <a:lstStyle/>
          <a:p>
            <a:pPr marL="0" indent="0" algn="ctr">
              <a:buNone/>
            </a:pPr>
            <a:r>
              <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0.96" OLED Display</a:t>
            </a:r>
            <a:endParaRPr lang="en-US" sz="1000" dirty="0"/>
          </a:p>
        </p:txBody>
      </p:sp>
      <p:sp>
        <p:nvSpPr>
          <p:cNvPr id="1048661" name="Shape 17"/>
          <p:cNvSpPr/>
          <p:nvPr/>
        </p:nvSpPr>
        <p:spPr>
          <a:xfrm>
            <a:off x="7612380" y="2121408"/>
            <a:ext cx="2651760" cy="566928"/>
          </a:xfrm>
          <a:prstGeom prst="roundRect">
            <a:avLst>
              <a:gd name="adj" fmla="val 12903"/>
            </a:avLst>
          </a:prstGeom>
          <a:solidFill>
            <a:srgbClr val="EAF1FB"/>
          </a:solidFill>
          <a:ln w="15875">
            <a:solidFill>
              <a:srgbClr val="1F4E79"/>
            </a:solidFill>
            <a:prstDash val="solid"/>
          </a:ln>
        </p:spPr>
      </p:sp>
      <p:sp>
        <p:nvSpPr>
          <p:cNvPr id="1048662" name="Text 18"/>
          <p:cNvSpPr/>
          <p:nvPr/>
        </p:nvSpPr>
        <p:spPr>
          <a:xfrm>
            <a:off x="7602220" y="2121408"/>
            <a:ext cx="2651760" cy="566928"/>
          </a:xfrm>
          <a:prstGeom prst="rect">
            <a:avLst/>
          </a:prstGeom>
          <a:noFill/>
        </p:spPr>
        <p:txBody>
          <a:bodyPr wrap="square" rtlCol="0" anchor="ctr"/>
          <a:lstStyle/>
          <a:p>
            <a:pPr marL="0" indent="0" algn="ctr">
              <a:buNone/>
            </a:pPr>
            <a:r>
              <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Vibration Motor &amp;</a:t>
            </a:r>
            <a:endParaRPr lang="en-US" sz="1000" dirty="0"/>
          </a:p>
          <a:p>
            <a:pPr marL="0" indent="0" algn="ctr">
              <a:buNone/>
            </a:pPr>
            <a:r>
              <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Buzzer (Local Alert)</a:t>
            </a:r>
            <a:endParaRPr lang="en-US" sz="1000" dirty="0"/>
          </a:p>
        </p:txBody>
      </p:sp>
      <p:sp>
        <p:nvSpPr>
          <p:cNvPr id="1048663" name="Shape 19"/>
          <p:cNvSpPr/>
          <p:nvPr/>
        </p:nvSpPr>
        <p:spPr>
          <a:xfrm>
            <a:off x="7612380" y="3076956"/>
            <a:ext cx="2651760" cy="566928"/>
          </a:xfrm>
          <a:prstGeom prst="roundRect">
            <a:avLst>
              <a:gd name="adj" fmla="val 12903"/>
            </a:avLst>
          </a:prstGeom>
          <a:solidFill>
            <a:srgbClr val="EAF1FB"/>
          </a:solidFill>
          <a:ln w="15875">
            <a:solidFill>
              <a:srgbClr val="1F4E79"/>
            </a:solidFill>
            <a:prstDash val="solid"/>
          </a:ln>
        </p:spPr>
      </p:sp>
      <p:sp>
        <p:nvSpPr>
          <p:cNvPr id="1048664" name="Text 20"/>
          <p:cNvSpPr/>
          <p:nvPr/>
        </p:nvSpPr>
        <p:spPr>
          <a:xfrm>
            <a:off x="6903720" y="3008376"/>
            <a:ext cx="2651760" cy="566928"/>
          </a:xfrm>
          <a:prstGeom prst="rect">
            <a:avLst/>
          </a:prstGeom>
          <a:noFill/>
        </p:spPr>
        <p:txBody>
          <a:bodyPr wrap="square" rtlCol="0" anchor="ctr"/>
          <a:lstStyle/>
          <a:p>
            <a:pPr marL="0" indent="0" algn="ctr">
              <a:buNone/>
            </a:pPr>
            <a:r>
              <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Push Button</a:t>
            </a:r>
            <a:endParaRPr lang="en-US" sz="1000" dirty="0"/>
          </a:p>
          <a:p>
            <a:pPr marL="0" indent="0" algn="ctr">
              <a:buNone/>
            </a:pPr>
            <a:r>
              <a:rPr lang="en-US" sz="1000" b="1" dirty="0">
                <a:solidFill>
                  <a:srgbClr val="1F4E79"/>
                </a:solidFill>
                <a:latin typeface="Times New Roman" panose="02020603050405020304" pitchFamily="34" charset="0"/>
                <a:ea typeface="Times New Roman" panose="02020603050405020304" pitchFamily="34" charset="-122"/>
                <a:cs typeface="Times New Roman" panose="02020603050405020304" pitchFamily="34" charset="-120"/>
              </a:rPr>
              <a:t>(Silence Alarm)</a:t>
            </a:r>
            <a:endParaRPr lang="en-US" sz="1000" dirty="0"/>
          </a:p>
        </p:txBody>
      </p:sp>
      <p:sp>
        <p:nvSpPr>
          <p:cNvPr id="1048665" name="Shape 21"/>
          <p:cNvSpPr/>
          <p:nvPr/>
        </p:nvSpPr>
        <p:spPr>
          <a:xfrm flipV="1">
            <a:off x="6619240" y="1453515"/>
            <a:ext cx="982980" cy="954405"/>
          </a:xfrm>
          <a:prstGeom prst="line">
            <a:avLst/>
          </a:prstGeom>
          <a:noFill/>
          <a:ln w="19050">
            <a:solidFill>
              <a:srgbClr val="8C8C8C"/>
            </a:solidFill>
            <a:prstDash val="solid"/>
            <a:tailEnd type="triangle"/>
          </a:ln>
        </p:spPr>
      </p:sp>
      <p:sp>
        <p:nvSpPr>
          <p:cNvPr id="1048666" name="Shape 22"/>
          <p:cNvSpPr/>
          <p:nvPr/>
        </p:nvSpPr>
        <p:spPr>
          <a:xfrm flipV="1">
            <a:off x="6618605" y="2407920"/>
            <a:ext cx="1003935" cy="511175"/>
          </a:xfrm>
          <a:prstGeom prst="line">
            <a:avLst/>
          </a:prstGeom>
          <a:noFill/>
          <a:ln w="19050">
            <a:solidFill>
              <a:srgbClr val="8C8C8C"/>
            </a:solidFill>
            <a:prstDash val="solid"/>
            <a:tailEnd type="triangle"/>
          </a:ln>
        </p:spPr>
      </p:sp>
      <p:sp>
        <p:nvSpPr>
          <p:cNvPr id="1048667" name="Shape 23"/>
          <p:cNvSpPr/>
          <p:nvPr/>
        </p:nvSpPr>
        <p:spPr>
          <a:xfrm flipV="1">
            <a:off x="6629400" y="3347085"/>
            <a:ext cx="1005840" cy="81915"/>
          </a:xfrm>
          <a:prstGeom prst="line">
            <a:avLst/>
          </a:prstGeom>
          <a:noFill/>
          <a:ln w="19050">
            <a:solidFill>
              <a:srgbClr val="8C8C8C"/>
            </a:solidFill>
            <a:prstDash val="solid"/>
            <a:tailEnd type="triangle"/>
          </a:ln>
        </p:spPr>
      </p:sp>
      <p:sp>
        <p:nvSpPr>
          <p:cNvPr id="1048668" name="Shape 24"/>
          <p:cNvSpPr/>
          <p:nvPr/>
        </p:nvSpPr>
        <p:spPr>
          <a:xfrm>
            <a:off x="4211320" y="4526280"/>
            <a:ext cx="2103120" cy="502920"/>
          </a:xfrm>
          <a:prstGeom prst="roundRect">
            <a:avLst>
              <a:gd name="adj" fmla="val 14545"/>
            </a:avLst>
          </a:prstGeom>
          <a:solidFill>
            <a:srgbClr val="FDEBD0"/>
          </a:solidFill>
          <a:ln w="15875">
            <a:solidFill>
              <a:srgbClr val="B7791F"/>
            </a:solidFill>
            <a:prstDash val="solid"/>
          </a:ln>
        </p:spPr>
      </p:sp>
      <p:sp>
        <p:nvSpPr>
          <p:cNvPr id="1048669" name="Text 25"/>
          <p:cNvSpPr/>
          <p:nvPr/>
        </p:nvSpPr>
        <p:spPr>
          <a:xfrm>
            <a:off x="3886200" y="4526280"/>
            <a:ext cx="2103120" cy="502920"/>
          </a:xfrm>
          <a:prstGeom prst="rect">
            <a:avLst/>
          </a:prstGeom>
          <a:noFill/>
        </p:spPr>
        <p:txBody>
          <a:bodyPr wrap="square" rtlCol="0" anchor="ctr"/>
          <a:lstStyle/>
          <a:p>
            <a:pPr marL="0" indent="0" algn="ctr">
              <a:buNone/>
            </a:pPr>
            <a:r>
              <a:rPr lang="en-US" sz="1000" b="1" dirty="0">
                <a:solidFill>
                  <a:srgbClr val="B7791F"/>
                </a:solidFill>
                <a:latin typeface="Times New Roman" panose="02020603050405020304" pitchFamily="34" charset="0"/>
                <a:ea typeface="Times New Roman" panose="02020603050405020304" pitchFamily="34" charset="-122"/>
                <a:cs typeface="Times New Roman" panose="02020603050405020304" pitchFamily="34" charset="-120"/>
              </a:rPr>
              <a:t>WiFi / BLE Link</a:t>
            </a:r>
            <a:endParaRPr lang="en-US" sz="1000" dirty="0"/>
          </a:p>
        </p:txBody>
      </p:sp>
      <p:sp>
        <p:nvSpPr>
          <p:cNvPr id="1048670" name="Shape 26"/>
          <p:cNvSpPr/>
          <p:nvPr/>
        </p:nvSpPr>
        <p:spPr>
          <a:xfrm>
            <a:off x="5369560" y="4178935"/>
            <a:ext cx="0" cy="411480"/>
          </a:xfrm>
          <a:prstGeom prst="line">
            <a:avLst/>
          </a:prstGeom>
          <a:noFill/>
          <a:ln w="19050">
            <a:solidFill>
              <a:srgbClr val="8C8C8C"/>
            </a:solidFill>
            <a:prstDash val="solid"/>
            <a:tailEnd type="triangle"/>
          </a:ln>
        </p:spPr>
      </p:sp>
      <p:sp>
        <p:nvSpPr>
          <p:cNvPr id="1048671" name="Shape 27"/>
          <p:cNvSpPr/>
          <p:nvPr/>
        </p:nvSpPr>
        <p:spPr>
          <a:xfrm>
            <a:off x="6903720" y="4526280"/>
            <a:ext cx="1234440" cy="502920"/>
          </a:xfrm>
          <a:prstGeom prst="roundRect">
            <a:avLst>
              <a:gd name="adj" fmla="val 14545"/>
            </a:avLst>
          </a:prstGeom>
          <a:solidFill>
            <a:srgbClr val="E3F2FD"/>
          </a:solidFill>
          <a:ln w="15875">
            <a:solidFill>
              <a:srgbClr val="1565C0"/>
            </a:solidFill>
            <a:prstDash val="solid"/>
          </a:ln>
        </p:spPr>
      </p:sp>
      <p:sp>
        <p:nvSpPr>
          <p:cNvPr id="1048672" name="Text 28"/>
          <p:cNvSpPr/>
          <p:nvPr/>
        </p:nvSpPr>
        <p:spPr>
          <a:xfrm>
            <a:off x="6903720" y="4526280"/>
            <a:ext cx="1234440" cy="502920"/>
          </a:xfrm>
          <a:prstGeom prst="rect">
            <a:avLst/>
          </a:prstGeom>
          <a:noFill/>
        </p:spPr>
        <p:txBody>
          <a:bodyPr wrap="square" rtlCol="0" anchor="ctr"/>
          <a:lstStyle/>
          <a:p>
            <a:pPr marL="0" indent="0" algn="ctr">
              <a:buNone/>
            </a:pPr>
            <a:r>
              <a:rPr lang="en-US" sz="950" b="1" dirty="0">
                <a:solidFill>
                  <a:srgbClr val="1565C0"/>
                </a:solidFill>
                <a:latin typeface="Times New Roman" panose="02020603050405020304" pitchFamily="34" charset="0"/>
                <a:ea typeface="Times New Roman" panose="02020603050405020304" pitchFamily="34" charset="-122"/>
                <a:cs typeface="Times New Roman" panose="02020603050405020304" pitchFamily="34" charset="-120"/>
              </a:rPr>
              <a:t>Cloud Dashboard</a:t>
            </a:r>
            <a:endParaRPr lang="en-US" sz="950" dirty="0"/>
          </a:p>
        </p:txBody>
      </p:sp>
      <p:sp>
        <p:nvSpPr>
          <p:cNvPr id="1048673" name="Shape 29"/>
          <p:cNvSpPr/>
          <p:nvPr/>
        </p:nvSpPr>
        <p:spPr>
          <a:xfrm>
            <a:off x="8321040" y="4526280"/>
            <a:ext cx="1234440" cy="502920"/>
          </a:xfrm>
          <a:prstGeom prst="roundRect">
            <a:avLst>
              <a:gd name="adj" fmla="val 14545"/>
            </a:avLst>
          </a:prstGeom>
          <a:solidFill>
            <a:srgbClr val="E3F2FD"/>
          </a:solidFill>
          <a:ln w="15875">
            <a:solidFill>
              <a:srgbClr val="1565C0"/>
            </a:solidFill>
            <a:prstDash val="solid"/>
          </a:ln>
        </p:spPr>
      </p:sp>
      <p:sp>
        <p:nvSpPr>
          <p:cNvPr id="1048674" name="Text 30"/>
          <p:cNvSpPr/>
          <p:nvPr/>
        </p:nvSpPr>
        <p:spPr>
          <a:xfrm>
            <a:off x="8321040" y="4526280"/>
            <a:ext cx="1234440" cy="502920"/>
          </a:xfrm>
          <a:prstGeom prst="rect">
            <a:avLst/>
          </a:prstGeom>
          <a:noFill/>
        </p:spPr>
        <p:txBody>
          <a:bodyPr wrap="square" rtlCol="0" anchor="ctr"/>
          <a:lstStyle/>
          <a:p>
            <a:pPr marL="0" indent="0" algn="ctr">
              <a:buNone/>
            </a:pPr>
            <a:r>
              <a:rPr lang="en-US" sz="900" b="1" dirty="0">
                <a:solidFill>
                  <a:srgbClr val="1565C0"/>
                </a:solidFill>
                <a:latin typeface="Times New Roman" panose="02020603050405020304" pitchFamily="34" charset="0"/>
                <a:ea typeface="Times New Roman" panose="02020603050405020304" pitchFamily="34" charset="-122"/>
                <a:cs typeface="Times New Roman" panose="02020603050405020304" pitchFamily="34" charset="-120"/>
              </a:rPr>
              <a:t>Mobile App /</a:t>
            </a:r>
            <a:endParaRPr lang="en-US" sz="900" dirty="0"/>
          </a:p>
          <a:p>
            <a:pPr marL="0" indent="0" algn="ctr">
              <a:buNone/>
            </a:pPr>
            <a:r>
              <a:rPr lang="en-US" sz="900" b="1" dirty="0">
                <a:solidFill>
                  <a:srgbClr val="1565C0"/>
                </a:solidFill>
                <a:latin typeface="Times New Roman" panose="02020603050405020304" pitchFamily="34" charset="0"/>
                <a:ea typeface="Times New Roman" panose="02020603050405020304" pitchFamily="34" charset="-122"/>
                <a:cs typeface="Times New Roman" panose="02020603050405020304" pitchFamily="34" charset="-120"/>
              </a:rPr>
              <a:t>Caregiver Alert</a:t>
            </a:r>
            <a:endParaRPr lang="en-US" sz="900" dirty="0"/>
          </a:p>
        </p:txBody>
      </p:sp>
      <p:sp>
        <p:nvSpPr>
          <p:cNvPr id="1048675" name="Shape 31"/>
          <p:cNvSpPr/>
          <p:nvPr/>
        </p:nvSpPr>
        <p:spPr>
          <a:xfrm flipV="1">
            <a:off x="6324600" y="4778375"/>
            <a:ext cx="579120" cy="13335"/>
          </a:xfrm>
          <a:prstGeom prst="line">
            <a:avLst/>
          </a:prstGeom>
          <a:noFill/>
          <a:ln w="19050">
            <a:solidFill>
              <a:srgbClr val="8C8C8C"/>
            </a:solidFill>
            <a:prstDash val="solid"/>
            <a:tailEnd type="triangle"/>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80" name="Text 0"/>
          <p:cNvSpPr/>
          <p:nvPr/>
        </p:nvSpPr>
        <p:spPr>
          <a:xfrm>
            <a:off x="457200" y="256032"/>
            <a:ext cx="11277295" cy="640080"/>
          </a:xfrm>
          <a:prstGeom prst="rect">
            <a:avLst/>
          </a:prstGeom>
          <a:noFill/>
        </p:spPr>
        <p:txBody>
          <a:bodyPr wrap="square" rtlCol="0" anchor="ctr"/>
          <a:lstStyle/>
          <a:p>
            <a:pPr marL="0" indent="0" algn="ctr">
              <a:buNone/>
            </a:pPr>
            <a:r>
              <a:rPr lang="en-US" sz="30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COST ESTIMATION</a:t>
            </a:r>
            <a:endParaRPr lang="en-US" sz="3000" dirty="0"/>
          </a:p>
        </p:txBody>
      </p:sp>
      <p:graphicFrame>
        <p:nvGraphicFramePr>
          <p:cNvPr id="4194305" name="Table 0"/>
          <p:cNvGraphicFramePr>
            <a:graphicFrameLocks noGrp="1"/>
          </p:cNvGraphicFramePr>
          <p:nvPr/>
        </p:nvGraphicFramePr>
        <p:xfrm>
          <a:off x="1280160" y="1188720"/>
          <a:ext cx="9692640" cy="4937760"/>
        </p:xfrm>
        <a:graphic>
          <a:graphicData uri="http://schemas.openxmlformats.org/drawingml/2006/table">
            <a:tbl>
              <a:tblPr/>
              <a:tblGrid>
                <a:gridCol w="9144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493776">
                <a:tc>
                  <a:txBody>
                    <a:bodyPr/>
                    <a:lstStyle/>
                    <a:p>
                      <a:pPr marL="0" indent="0" algn="ctr">
                        <a:buNone/>
                      </a:pPr>
                      <a:r>
                        <a:rPr lang="en-US" sz="14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S.NO</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marL="0" indent="0" algn="ctr">
                        <a:buNone/>
                      </a:pPr>
                      <a:r>
                        <a:rPr lang="en-US" sz="14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COMPONENT</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marL="0" indent="0" algn="ctr">
                        <a:buNone/>
                      </a:pPr>
                      <a:r>
                        <a:rPr lang="en-US" sz="1400" b="1" dirty="0">
                          <a:solidFill>
                            <a:srgbClr val="FFFFFF"/>
                          </a:solidFill>
                          <a:latin typeface="Times New Roman" panose="02020603050405020304" pitchFamily="34" charset="0"/>
                          <a:ea typeface="Times New Roman" panose="02020603050405020304" pitchFamily="34" charset="-122"/>
                          <a:cs typeface="Times New Roman" panose="02020603050405020304" pitchFamily="34" charset="-120"/>
                        </a:rPr>
                        <a:t>APPROXIMATE COST (Rs.)</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93776">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1</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ESP32 Development Board (WiFi + BLE)</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Rs. 450</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493776">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2</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MAX30102 SpO2 &amp; Heart-Rate Sensor</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Rs. 350</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493776">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3</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Flexible Piezoelectric Respiration Sensor</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Rs. 400</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493776">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4</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DS18B20 Body Temperature Sensor</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Rs. 150</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493776">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5</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0.96" OLED Display</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Rs. 200</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493776">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6</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Vibration Motor &amp; Buzzer</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Rs. 80</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r h="493776">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7</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Li-Po Battery &amp; TP4056 Charging Module</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Rs. 350</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7"/>
                  </a:ext>
                </a:extLst>
              </a:tr>
              <a:tr h="493776">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8</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Wearable Strap, Enclosure &amp; Miscellaneous</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400"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Rs. 300</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8"/>
                  </a:ext>
                </a:extLst>
              </a:tr>
              <a:tr h="493776">
                <a:tc>
                  <a:txBody>
                    <a:bodyPr/>
                    <a:lstStyle/>
                    <a:p>
                      <a:pPr marL="0" indent="0">
                        <a:buNone/>
                      </a:pP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r">
                        <a:buNone/>
                      </a:pPr>
                      <a:r>
                        <a:rPr lang="en-US" sz="1400" b="1"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TOTAL</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400" b="1"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Rs. 2,280 (approx.)</a:t>
                      </a:r>
                      <a:endParaRPr lang="en-US" sz="1400" dirty="0">
                        <a:latin typeface="Times New Roman" panose="02020603050405020304" pitchFamily="34" charset="0"/>
                        <a:ea typeface="Times New Roman" panose="02020603050405020304" pitchFamily="34" charset="0"/>
                        <a:cs typeface="Times New Roman" panose="02020603050405020304" pitchFamily="34"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85" name="Text 1"/>
          <p:cNvSpPr/>
          <p:nvPr/>
        </p:nvSpPr>
        <p:spPr>
          <a:xfrm>
            <a:off x="548640" y="1051560"/>
            <a:ext cx="11094415" cy="365760"/>
          </a:xfrm>
          <a:prstGeom prst="rect">
            <a:avLst/>
          </a:prstGeom>
          <a:noFill/>
        </p:spPr>
        <p:txBody>
          <a:bodyPr wrap="square" rtlCol="0" anchor="ctr"/>
          <a:lstStyle/>
          <a:p>
            <a:pPr marL="0" indent="0">
              <a:buNone/>
            </a:pPr>
            <a:endParaRPr lang="en-US" dirty="0"/>
          </a:p>
        </p:txBody>
      </p:sp>
      <p:sp>
        <p:nvSpPr>
          <p:cNvPr id="1048686" name="Text 2"/>
          <p:cNvSpPr/>
          <p:nvPr/>
        </p:nvSpPr>
        <p:spPr>
          <a:xfrm>
            <a:off x="640081" y="1444751"/>
            <a:ext cx="11094416" cy="4942601"/>
          </a:xfrm>
          <a:prstGeom prst="rect">
            <a:avLst/>
          </a:prstGeom>
          <a:noFill/>
        </p:spPr>
        <p:txBody>
          <a:bodyPr wrap="square" rtlCol="0" anchor="ctr"/>
          <a:lstStyle/>
          <a:p>
            <a:pPr marL="203200" indent="-203200" algn="just">
              <a:lnSpc>
                <a:spcPct val="110000"/>
              </a:lnSpc>
              <a:spcAft>
                <a:spcPts val="800"/>
              </a:spcAft>
              <a:buSzPct val="100000"/>
              <a:buChar char="▪"/>
            </a:pPr>
            <a:r>
              <a:rPr lang="en-US" sz="32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Multi-Parameter Fusion – Combining respiration, SpO2, heart rate, and temperature improves early-warning accuracy and reduces false alarms.</a:t>
            </a:r>
            <a:endParaRPr lang="en-US" sz="3200" dirty="0">
              <a:latin typeface="Times New Roman" panose="02020603050405020304" pitchFamily="18" charset="0"/>
              <a:cs typeface="Times New Roman" panose="02020603050405020304" pitchFamily="18" charset="0"/>
            </a:endParaRPr>
          </a:p>
          <a:p>
            <a:pPr marL="203200" indent="-203200" algn="just">
              <a:lnSpc>
                <a:spcPct val="110000"/>
              </a:lnSpc>
              <a:spcAft>
                <a:spcPts val="800"/>
              </a:spcAft>
              <a:buSzPct val="100000"/>
              <a:buChar char="▪"/>
            </a:pPr>
            <a:r>
              <a:rPr lang="en-US" sz="32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Wearable &amp; Lightweight – Compact chest-strap/wrist design allows continuous, unobtrusive all-day monitoring.</a:t>
            </a:r>
            <a:endParaRPr lang="en-US" sz="3200" dirty="0">
              <a:latin typeface="Times New Roman" panose="02020603050405020304" pitchFamily="18" charset="0"/>
              <a:cs typeface="Times New Roman" panose="02020603050405020304" pitchFamily="18" charset="0"/>
            </a:endParaRPr>
          </a:p>
          <a:p>
            <a:pPr marL="203200" indent="-203200" algn="just">
              <a:lnSpc>
                <a:spcPct val="110000"/>
              </a:lnSpc>
              <a:spcAft>
                <a:spcPts val="800"/>
              </a:spcAft>
              <a:buSzPct val="100000"/>
              <a:buChar char="▪"/>
            </a:pPr>
            <a:r>
              <a:rPr lang="en-US" sz="32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Instant Cloud Alerts – Real-time </a:t>
            </a:r>
            <a:r>
              <a:rPr lang="en-US" sz="3200" dirty="0" err="1">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WiFi</a:t>
            </a:r>
            <a:r>
              <a:rPr lang="en-US" sz="32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/BLE notifications reach caregivers faster than GSM/SMS, without recurring SIM cost.</a:t>
            </a:r>
            <a:endParaRPr lang="en-US" sz="3200" dirty="0">
              <a:latin typeface="Times New Roman" panose="02020603050405020304" pitchFamily="18" charset="0"/>
              <a:cs typeface="Times New Roman" panose="02020603050405020304" pitchFamily="18" charset="0"/>
            </a:endParaRPr>
          </a:p>
          <a:p>
            <a:pPr marL="203200" indent="-203200" algn="just">
              <a:lnSpc>
                <a:spcPct val="110000"/>
              </a:lnSpc>
              <a:spcAft>
                <a:spcPts val="800"/>
              </a:spcAft>
              <a:buSzPct val="100000"/>
              <a:buChar char="▪"/>
            </a:pPr>
            <a:r>
              <a:rPr lang="en-US" sz="32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Rechargeable &amp; Low Power – Li-Po battery with low-power sleep modes supports extended wearable use.</a:t>
            </a:r>
            <a:endParaRPr lang="en-US" sz="3200" dirty="0">
              <a:latin typeface="Times New Roman" panose="02020603050405020304" pitchFamily="18" charset="0"/>
              <a:cs typeface="Times New Roman" panose="02020603050405020304" pitchFamily="18" charset="0"/>
            </a:endParaRPr>
          </a:p>
        </p:txBody>
      </p:sp>
      <p:sp>
        <p:nvSpPr>
          <p:cNvPr id="1048687" name="Text 3"/>
          <p:cNvSpPr/>
          <p:nvPr/>
        </p:nvSpPr>
        <p:spPr>
          <a:xfrm>
            <a:off x="548640" y="3749040"/>
            <a:ext cx="11094415" cy="365760"/>
          </a:xfrm>
          <a:prstGeom prst="rect">
            <a:avLst/>
          </a:prstGeom>
          <a:noFill/>
        </p:spPr>
        <p:txBody>
          <a:bodyPr wrap="square" rtlCol="0" anchor="ctr"/>
          <a:lstStyle/>
          <a:p>
            <a:pPr marL="0" indent="0">
              <a:buNone/>
            </a:pPr>
            <a:endParaRPr lang="en-US" dirty="0"/>
          </a:p>
        </p:txBody>
      </p:sp>
      <p:sp>
        <p:nvSpPr>
          <p:cNvPr id="1048688" name="Text 4"/>
          <p:cNvSpPr/>
          <p:nvPr/>
        </p:nvSpPr>
        <p:spPr>
          <a:xfrm>
            <a:off x="640080" y="4142232"/>
            <a:ext cx="10911535" cy="2148840"/>
          </a:xfrm>
          <a:prstGeom prst="rect">
            <a:avLst/>
          </a:prstGeom>
          <a:noFill/>
        </p:spPr>
        <p:txBody>
          <a:bodyPr wrap="square" rtlCol="0" anchor="ctr"/>
          <a:lstStyle/>
          <a:p>
            <a:pPr marL="203200" indent="-203200" algn="just">
              <a:lnSpc>
                <a:spcPct val="110000"/>
              </a:lnSpc>
              <a:spcAft>
                <a:spcPts val="800"/>
              </a:spcAft>
              <a:buSzPct val="100000"/>
              <a:buChar char="▪"/>
            </a:pPr>
            <a:endParaRPr 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92F69CB-5103-420B-A127-5E79DC9382D2}"/>
              </a:ext>
            </a:extLst>
          </p:cNvPr>
          <p:cNvSpPr txBox="1"/>
          <p:nvPr/>
        </p:nvSpPr>
        <p:spPr>
          <a:xfrm>
            <a:off x="833717" y="285982"/>
            <a:ext cx="10717897" cy="523220"/>
          </a:xfrm>
          <a:prstGeom prst="rect">
            <a:avLst/>
          </a:prstGeom>
          <a:noFill/>
        </p:spPr>
        <p:txBody>
          <a:bodyPr wrap="square">
            <a:spAutoFit/>
          </a:bodyPr>
          <a:lstStyle/>
          <a:p>
            <a:r>
              <a:rPr lang="en-US" sz="28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                                            ADVANTAGES </a:t>
            </a:r>
            <a:endParaRPr lang="en-SG"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CADC84-AB15-4DBE-98D2-54F6729D07FA}"/>
              </a:ext>
            </a:extLst>
          </p:cNvPr>
          <p:cNvSpPr txBox="1"/>
          <p:nvPr/>
        </p:nvSpPr>
        <p:spPr>
          <a:xfrm>
            <a:off x="-900953" y="285980"/>
            <a:ext cx="11600329" cy="523220"/>
          </a:xfrm>
          <a:prstGeom prst="rect">
            <a:avLst/>
          </a:prstGeom>
          <a:noFill/>
        </p:spPr>
        <p:txBody>
          <a:bodyPr wrap="square">
            <a:spAutoFit/>
          </a:bodyPr>
          <a:lstStyle/>
          <a:p>
            <a:r>
              <a:rPr lang="en-US" sz="28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                                                          APPLICATIONS</a:t>
            </a:r>
            <a:endParaRPr lang="en-SG" sz="2800" dirty="0"/>
          </a:p>
        </p:txBody>
      </p:sp>
      <p:sp>
        <p:nvSpPr>
          <p:cNvPr id="5" name="TextBox 4">
            <a:extLst>
              <a:ext uri="{FF2B5EF4-FFF2-40B4-BE49-F238E27FC236}">
                <a16:creationId xmlns:a16="http://schemas.microsoft.com/office/drawing/2014/main" id="{D903588D-18B9-4E69-A96D-4746F9F3B56F}"/>
              </a:ext>
            </a:extLst>
          </p:cNvPr>
          <p:cNvSpPr txBox="1"/>
          <p:nvPr/>
        </p:nvSpPr>
        <p:spPr>
          <a:xfrm>
            <a:off x="201707" y="1183341"/>
            <a:ext cx="11456893" cy="4694362"/>
          </a:xfrm>
          <a:prstGeom prst="rect">
            <a:avLst/>
          </a:prstGeom>
          <a:noFill/>
        </p:spPr>
        <p:txBody>
          <a:bodyPr wrap="square">
            <a:spAutoFit/>
          </a:bodyPr>
          <a:lstStyle/>
          <a:p>
            <a:pPr marL="203200" indent="-203200" algn="just">
              <a:lnSpc>
                <a:spcPct val="110000"/>
              </a:lnSpc>
              <a:spcAft>
                <a:spcPts val="800"/>
              </a:spcAft>
              <a:buSzPct val="100000"/>
              <a:buChar char="▪"/>
            </a:pPr>
            <a:r>
              <a:rPr lang="en-US" sz="32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Home &amp; Elderly Care – Enables family members to remotely track a person’s breathing and vital signs.</a:t>
            </a:r>
            <a:endParaRPr lang="en-US" sz="3200" dirty="0">
              <a:latin typeface="Times New Roman" panose="02020603050405020304" pitchFamily="18" charset="0"/>
              <a:cs typeface="Times New Roman" panose="02020603050405020304" pitchFamily="18" charset="0"/>
            </a:endParaRPr>
          </a:p>
          <a:p>
            <a:pPr marL="203200" indent="-203200" algn="just">
              <a:lnSpc>
                <a:spcPct val="110000"/>
              </a:lnSpc>
              <a:spcAft>
                <a:spcPts val="800"/>
              </a:spcAft>
              <a:buSzPct val="100000"/>
              <a:buChar char="▪"/>
            </a:pPr>
            <a:r>
              <a:rPr lang="en-US" sz="32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Post-Operative Recovery – Assists hospital staff in continuously monitoring recovering patients for respiratory complications.</a:t>
            </a:r>
            <a:endParaRPr lang="en-US" sz="3200" dirty="0">
              <a:latin typeface="Times New Roman" panose="02020603050405020304" pitchFamily="18" charset="0"/>
              <a:cs typeface="Times New Roman" panose="02020603050405020304" pitchFamily="18" charset="0"/>
            </a:endParaRPr>
          </a:p>
          <a:p>
            <a:pPr marL="203200" indent="-203200" algn="just">
              <a:lnSpc>
                <a:spcPct val="110000"/>
              </a:lnSpc>
              <a:spcAft>
                <a:spcPts val="800"/>
              </a:spcAft>
              <a:buSzPct val="100000"/>
              <a:buChar char="▪"/>
            </a:pPr>
            <a:r>
              <a:rPr lang="en-US" sz="32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Sleep Apnea Screening – Provides a low-cost, wearable tool for identifying irregular breathing during sleep.</a:t>
            </a:r>
            <a:endParaRPr lang="en-US" sz="3200" dirty="0">
              <a:latin typeface="Times New Roman" panose="02020603050405020304" pitchFamily="18" charset="0"/>
              <a:cs typeface="Times New Roman" panose="02020603050405020304" pitchFamily="18" charset="0"/>
            </a:endParaRPr>
          </a:p>
          <a:p>
            <a:pPr marL="203200" indent="-203200" algn="just">
              <a:lnSpc>
                <a:spcPct val="110000"/>
              </a:lnSpc>
              <a:spcAft>
                <a:spcPts val="800"/>
              </a:spcAft>
              <a:buSzPct val="100000"/>
              <a:buChar char="▪"/>
            </a:pPr>
            <a:r>
              <a:rPr lang="en-US" sz="32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Sports &amp; Fitness Monitoring – Tracks breathing and heart-rate patterns during physical activity.</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3258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98" name="Text 0"/>
          <p:cNvSpPr/>
          <p:nvPr/>
        </p:nvSpPr>
        <p:spPr>
          <a:xfrm>
            <a:off x="457200" y="256032"/>
            <a:ext cx="11277295" cy="640080"/>
          </a:xfrm>
          <a:prstGeom prst="rect">
            <a:avLst/>
          </a:prstGeom>
          <a:noFill/>
        </p:spPr>
        <p:txBody>
          <a:bodyPr wrap="square" rtlCol="0" anchor="ctr"/>
          <a:lstStyle/>
          <a:p>
            <a:pPr marL="0" indent="0" algn="ctr">
              <a:buNone/>
            </a:pPr>
            <a:r>
              <a:rPr lang="en-US" sz="30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PROTOTYPE</a:t>
            </a:r>
            <a:endParaRPr lang="en-US" sz="3000" dirty="0"/>
          </a:p>
        </p:txBody>
      </p:sp>
      <p:pic>
        <p:nvPicPr>
          <p:cNvPr id="2097155" name="Image 0" descr="/home/claude/work/prototype_crop.png"/>
          <p:cNvPicPr>
            <a:picLocks noChangeAspect="1"/>
          </p:cNvPicPr>
          <p:nvPr/>
        </p:nvPicPr>
        <p:blipFill>
          <a:blip r:embed="rId3"/>
          <a:stretch>
            <a:fillRect/>
          </a:stretch>
        </p:blipFill>
        <p:spPr>
          <a:xfrm>
            <a:off x="1910528" y="1051560"/>
            <a:ext cx="8370639" cy="55778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707" name="Text 0"/>
          <p:cNvSpPr/>
          <p:nvPr/>
        </p:nvSpPr>
        <p:spPr>
          <a:xfrm>
            <a:off x="457200" y="256032"/>
            <a:ext cx="11277295" cy="640080"/>
          </a:xfrm>
          <a:prstGeom prst="rect">
            <a:avLst/>
          </a:prstGeom>
          <a:noFill/>
        </p:spPr>
        <p:txBody>
          <a:bodyPr wrap="square" rtlCol="0" anchor="ctr"/>
          <a:lstStyle/>
          <a:p>
            <a:pPr marL="0" indent="0" algn="ctr">
              <a:buNone/>
            </a:pPr>
            <a:r>
              <a:rPr lang="en-US" sz="30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CONCLUSION</a:t>
            </a:r>
            <a:endParaRPr lang="en-US" sz="3000" dirty="0"/>
          </a:p>
        </p:txBody>
      </p:sp>
      <p:sp>
        <p:nvSpPr>
          <p:cNvPr id="1048708" name="Text 1"/>
          <p:cNvSpPr/>
          <p:nvPr/>
        </p:nvSpPr>
        <p:spPr>
          <a:xfrm>
            <a:off x="640080" y="1051560"/>
            <a:ext cx="10911535" cy="5486400"/>
          </a:xfrm>
          <a:prstGeom prst="rect">
            <a:avLst/>
          </a:prstGeom>
          <a:noFill/>
        </p:spPr>
        <p:txBody>
          <a:bodyPr wrap="square" rtlCol="0" anchor="t"/>
          <a:lstStyle/>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The proposed wearable IoT system enables continuous, real-time monitoring of respiratory pattern together with SpO2, heart rate, and body temperature.</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Fusing multiple physiological parameters improves the reliability of early-warning detection while reducing false alarms compared to single-parameter devices.</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Instant local alerts and cloud/mobile-app notifications enable caregivers to respond quickly to apnea, bradypnea, tachypnea, or other abnormal readings.</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The device’s compact, rechargeable, wearable design makes continuous multi-parameter monitoring feasible in homes, wards, and everyday settings.</a:t>
            </a:r>
            <a:endParaRPr lang="en-US" sz="2400" dirty="0">
              <a:latin typeface="Times New Roman" panose="02020603050405020304" pitchFamily="18" charset="0"/>
              <a:cs typeface="Times New Roman" panose="02020603050405020304" pitchFamily="18" charset="0"/>
            </a:endParaRPr>
          </a:p>
          <a:p>
            <a:pPr marL="228600" indent="-228600" algn="just">
              <a:lnSpc>
                <a:spcPct val="125000"/>
              </a:lnSpc>
              <a:spcAft>
                <a:spcPts val="1200"/>
              </a:spcAft>
              <a:buSzPct val="100000"/>
              <a:buChar char="▪"/>
            </a:pPr>
            <a:r>
              <a:rPr lang="en-US" sz="2400"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Future enhancements such as AI-based anomaly prediction and long-term cloud analytics can further improve early diagnosis and patient outcomes.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712" name="Text 0"/>
          <p:cNvSpPr/>
          <p:nvPr/>
        </p:nvSpPr>
        <p:spPr>
          <a:xfrm>
            <a:off x="457200" y="117487"/>
            <a:ext cx="11277295" cy="640080"/>
          </a:xfrm>
          <a:prstGeom prst="rect">
            <a:avLst/>
          </a:prstGeom>
          <a:noFill/>
        </p:spPr>
        <p:txBody>
          <a:bodyPr wrap="square" rtlCol="0" anchor="ctr"/>
          <a:lstStyle/>
          <a:p>
            <a:pPr marL="0" indent="0" algn="ctr">
              <a:buNone/>
            </a:pPr>
            <a:r>
              <a:rPr lang="en-US" sz="3000" b="1" dirty="0">
                <a:solidFill>
                  <a:srgbClr val="002060"/>
                </a:solidFill>
                <a:latin typeface="Times New Roman" panose="02020603050405020304" pitchFamily="34" charset="0"/>
                <a:ea typeface="Times New Roman" panose="02020603050405020304" pitchFamily="34" charset="-122"/>
                <a:cs typeface="Times New Roman" panose="02020603050405020304" pitchFamily="34" charset="-120"/>
              </a:rPr>
              <a:t>REFERENCE</a:t>
            </a:r>
            <a:endParaRPr lang="en-US" sz="3000" dirty="0"/>
          </a:p>
        </p:txBody>
      </p:sp>
      <p:sp>
        <p:nvSpPr>
          <p:cNvPr id="1048713" name="Text 1"/>
          <p:cNvSpPr/>
          <p:nvPr/>
        </p:nvSpPr>
        <p:spPr>
          <a:xfrm>
            <a:off x="640080" y="1097280"/>
            <a:ext cx="10911535" cy="5394960"/>
          </a:xfrm>
          <a:prstGeom prst="rect">
            <a:avLst/>
          </a:prstGeom>
          <a:noFill/>
        </p:spPr>
        <p:txBody>
          <a:bodyPr wrap="square" rtlCol="0" anchor="t"/>
          <a:lstStyle/>
          <a:p>
            <a:pPr marL="0" indent="0" algn="just">
              <a:lnSpc>
                <a:spcPct val="110000"/>
              </a:lnSpc>
              <a:spcAft>
                <a:spcPts val="1000"/>
              </a:spcAft>
              <a:buNone/>
            </a:pPr>
            <a:r>
              <a:rPr lang="en-US" dirty="0">
                <a:solidFill>
                  <a:srgbClr val="333333"/>
                </a:solidFill>
                <a:latin typeface="Times New Roman" panose="02020603050405020304" pitchFamily="34" charset="0"/>
                <a:ea typeface="Times New Roman" panose="02020603050405020304" pitchFamily="34" charset="-122"/>
                <a:cs typeface="Times New Roman" panose="02020603050405020304" pitchFamily="34" charset="-120"/>
              </a:rPr>
              <a:t>1. </a:t>
            </a:r>
            <a:r>
              <a:rPr lang="en-US"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O. Y. Tham, M. A. Markom, A. H. A. Bakar, E. S. M. M. Tan and A. M. Markom, “IoT Health Monitoring Device of Oxygen Saturation (SpO2) and Heart Rate Level,” 2020 1st International Conference on Information Technology, Advanced Mechanical and Electrical Engineering (ICITAMEE), Yogyakarta, Indonesia, 2020, pp. 128-133.</a:t>
            </a:r>
          </a:p>
          <a:p>
            <a:pPr marL="0" indent="0" algn="just">
              <a:lnSpc>
                <a:spcPct val="110000"/>
              </a:lnSpc>
              <a:spcAft>
                <a:spcPts val="1000"/>
              </a:spcAft>
              <a:buNone/>
            </a:pPr>
            <a:r>
              <a:rPr lang="en-US"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2. Khushi Singh, Pradheep Thiyagarajan and Sasikumar P., “Design and Implementation of IoT Enabled Low Cost SPO2 and Heart Rate Monitoring System,” 2022 IEEE Delhi Section Conference (DELCON), 2022, pp. 1-6.</a:t>
            </a:r>
          </a:p>
          <a:p>
            <a:pPr marL="0" indent="0" algn="just">
              <a:lnSpc>
                <a:spcPct val="110000"/>
              </a:lnSpc>
              <a:spcAft>
                <a:spcPts val="1000"/>
              </a:spcAft>
              <a:buNone/>
            </a:pPr>
            <a:r>
              <a:rPr lang="en-US"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3. M. I. Kadhim, R. A. Fayadh and J. F. Mahdi, “Design a Medical Device to Monitor the Human Body (Blood Oxygen Saturation, Heart Rate, Body Temperature),” 2022 International Conference for Natural and Applied Sciences (ICNAS), 2022, pp. 52-57.</a:t>
            </a:r>
          </a:p>
          <a:p>
            <a:pPr marL="0" indent="0" algn="just">
              <a:lnSpc>
                <a:spcPct val="110000"/>
              </a:lnSpc>
              <a:spcAft>
                <a:spcPts val="1000"/>
              </a:spcAft>
              <a:buNone/>
            </a:pPr>
            <a:r>
              <a:rPr lang="en-US"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4. D. K. S. Nadiger, J. Dhanush, R. Vikas, S. K. B V, A. R. Naik and C. G. M, “E-Health Tracker: An IoT-Cloud Based Health Monitoring System,” 2022 4th International Conference on Smart Systems and Inventive Technology (ICSSIT), 2022, pp. 35-39.</a:t>
            </a:r>
          </a:p>
          <a:p>
            <a:pPr marL="0" indent="0" algn="just">
              <a:lnSpc>
                <a:spcPct val="110000"/>
              </a:lnSpc>
              <a:spcAft>
                <a:spcPts val="1000"/>
              </a:spcAft>
              <a:buNone/>
            </a:pPr>
            <a:r>
              <a:rPr lang="en-US" dirty="0">
                <a:solidFill>
                  <a:srgbClr val="333333"/>
                </a:solidFill>
                <a:latin typeface="Times New Roman" panose="02020603050405020304" pitchFamily="18" charset="0"/>
                <a:ea typeface="Times New Roman" panose="02020603050405020304" pitchFamily="34" charset="-122"/>
                <a:cs typeface="Times New Roman" panose="02020603050405020304" pitchFamily="18" charset="0"/>
              </a:rPr>
              <a:t>5. Z. Jia, H. Huth, W. Q. Teoh, S. Xu, B. Wood and Z. T. H. Tse, “State of the Art Review of Wearable Devices for Respiratory Monitoring,” IEEE Access, vol. 13, pp. 18178-18190, 2025.</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717" name="Text 0"/>
          <p:cNvSpPr/>
          <p:nvPr/>
        </p:nvSpPr>
        <p:spPr>
          <a:xfrm>
            <a:off x="0" y="0"/>
            <a:ext cx="12191695" cy="6858000"/>
          </a:xfrm>
          <a:prstGeom prst="rect">
            <a:avLst/>
          </a:prstGeom>
          <a:noFill/>
        </p:spPr>
        <p:txBody>
          <a:bodyPr wrap="square" rtlCol="0" anchor="ctr"/>
          <a:lstStyle/>
          <a:p>
            <a:pPr marL="0" indent="0" algn="ctr">
              <a:buNone/>
            </a:pPr>
            <a:r>
              <a:rPr lang="en-US" sz="4800" b="1" i="1" dirty="0">
                <a:solidFill>
                  <a:schemeClr val="tx1">
                    <a:lumMod val="95000"/>
                    <a:lumOff val="5000"/>
                  </a:schemeClr>
                </a:solidFill>
                <a:latin typeface="Arial" panose="020B0604020202020204" pitchFamily="34" charset="0"/>
                <a:ea typeface="Times New Roman" panose="02020603050405020304" pitchFamily="34" charset="-122"/>
                <a:cs typeface="Arial" panose="020B0604020202020204" pitchFamily="34" charset="0"/>
              </a:rPr>
              <a:t>Thank You…!</a:t>
            </a:r>
            <a:endParaRPr lang="en-US" sz="4800" dirty="0">
              <a:solidFill>
                <a:schemeClr val="tx1">
                  <a:lumMod val="95000"/>
                  <a:lumOff val="5000"/>
                </a:schemeClr>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1945</Words>
  <Application>Microsoft Office PowerPoint</Application>
  <PresentationFormat>Widescreen</PresentationFormat>
  <Paragraphs>196</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cp:lastModifiedBy>ramya barish</cp:lastModifiedBy>
  <cp:revision>7</cp:revision>
  <dcterms:created xsi:type="dcterms:W3CDTF">2026-08-04T01:41:00Z</dcterms:created>
  <dcterms:modified xsi:type="dcterms:W3CDTF">2026-08-08T01:14:47Z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A47F250DF871405485D962D1BA2F9DD3_13</vt:lpwstr>
  </property>
  <property fmtid="{D5CDD505-2E9C-101B-9397-08002B2CF9AE}" pid="3" name="KSOProductBuildVer">
    <vt:lpwstr>1033-12.1.0.28032</vt:lpwstr>
  </property>
</Properties>
</file>