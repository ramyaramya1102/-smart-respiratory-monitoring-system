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7216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10" Type="http://schemas.openxmlformats.org/officeDocument/2006/relationships/image" Target="../media/image19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8.png"/><Relationship Id="rId5" Type="http://schemas.openxmlformats.org/officeDocument/2006/relationships/image" Target="../media/image20.png"/><Relationship Id="rId10" Type="http://schemas.openxmlformats.org/officeDocument/2006/relationships/image" Target="../media/image21.png"/><Relationship Id="rId4" Type="http://schemas.openxmlformats.org/officeDocument/2006/relationships/image" Target="../media/image5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14.png"/><Relationship Id="rId10" Type="http://schemas.openxmlformats.org/officeDocument/2006/relationships/image" Target="../media/image27.png"/><Relationship Id="rId4" Type="http://schemas.openxmlformats.org/officeDocument/2006/relationships/image" Target="../media/image16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6.png"/><Relationship Id="rId5" Type="http://schemas.openxmlformats.org/officeDocument/2006/relationships/image" Target="../media/image27.png"/><Relationship Id="rId10" Type="http://schemas.openxmlformats.org/officeDocument/2006/relationships/image" Target="../media/image30.png"/><Relationship Id="rId4" Type="http://schemas.openxmlformats.org/officeDocument/2006/relationships/image" Target="../media/image5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hero_lungs_circu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914400"/>
            <a:ext cx="4160520" cy="4160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515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ENGINEERING  •  THIRD YEAR PROJECT 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1609344"/>
            <a:ext cx="7315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ahnschrift Condensed" panose="020B0502040204020203" pitchFamily="34" charset="0"/>
                <a:ea typeface="Poppins" pitchFamily="34" charset="-122"/>
                <a:cs typeface="Poppins" pitchFamily="34" charset="-120"/>
              </a:rPr>
              <a:t>Embedded Respiratory Pattern</a:t>
            </a:r>
            <a:endParaRPr lang="en-US" sz="4000" dirty="0">
              <a:latin typeface="Bahnschrift Condensed" panose="020B0502040204020203" pitchFamily="34" charset="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ahnschrift Condensed" panose="020B0502040204020203" pitchFamily="34" charset="0"/>
                <a:ea typeface="Poppins" pitchFamily="34" charset="-122"/>
                <a:cs typeface="Poppins" pitchFamily="34" charset="-120"/>
              </a:rPr>
              <a:t>Monitoring and Early</a:t>
            </a:r>
            <a:endParaRPr lang="en-US" sz="4000" dirty="0">
              <a:latin typeface="Bahnschrift Condensed" panose="020B0502040204020203" pitchFamily="34" charset="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ahnschrift Condensed" panose="020B0502040204020203" pitchFamily="34" charset="0"/>
                <a:ea typeface="Poppins" pitchFamily="34" charset="-122"/>
                <a:cs typeface="Poppins" pitchFamily="34" charset="-120"/>
              </a:rPr>
              <a:t>Warning System</a:t>
            </a:r>
            <a:endParaRPr lang="en-US" sz="4000" dirty="0">
              <a:latin typeface="Bahnschrift Condensed" panose="020B0502040204020203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40080" y="4114800"/>
            <a:ext cx="2834640" cy="0"/>
          </a:xfrm>
          <a:prstGeom prst="line">
            <a:avLst/>
          </a:prstGeom>
          <a:noFill/>
          <a:ln w="25400">
            <a:solidFill>
              <a:srgbClr val="8A2BE2">
                <a:alpha val="8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25196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smart, portable embedded system that continuously tracks breathing patterns and raises instant alerts for early clinical intervention.</a:t>
            </a: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594360" y="5166360"/>
            <a:ext cx="4572000" cy="1234440"/>
          </a:xfrm>
          <a:prstGeom prst="roundRect">
            <a:avLst>
              <a:gd name="adj" fmla="val 10370"/>
            </a:avLst>
          </a:prstGeom>
          <a:solidFill>
            <a:srgbClr val="112A4E">
              <a:alpha val="65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5285232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DHIVYA RANJANI P, RAMYA M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Engineering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VSB ENGINEERING COLLEGE ,KARUR</a:t>
            </a:r>
            <a:endParaRPr lang="en-US" sz="1250" dirty="0"/>
          </a:p>
        </p:txBody>
      </p:sp>
      <p:pic>
        <p:nvPicPr>
          <p:cNvPr id="9" name="Image 1" descr="icons/wave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57200"/>
            <a:ext cx="384048" cy="38404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92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5349240" cy="2148840"/>
          </a:xfrm>
          <a:prstGeom prst="roundRect">
            <a:avLst>
              <a:gd name="adj" fmla="val 5957"/>
            </a:avLst>
          </a:prstGeom>
          <a:solidFill>
            <a:srgbClr val="112A4E">
              <a:alpha val="70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4380" y="1874520"/>
            <a:ext cx="868680" cy="868680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6" name="Image 0" descr="icons/lungs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3" y="208300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4904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Respiratory Monitoring?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828800" y="20116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tracking of breathing rate, depth and rhythm to detect abnormal respiratory patterns in real time.</a:t>
            </a:r>
            <a:endParaRPr lang="en-US" sz="1150" b="1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6217920" y="1234440"/>
            <a:ext cx="5349240" cy="2148840"/>
          </a:xfrm>
          <a:prstGeom prst="roundRect">
            <a:avLst>
              <a:gd name="adj" fmla="val 5957"/>
            </a:avLst>
          </a:prstGeom>
          <a:solidFill>
            <a:srgbClr val="112A4E">
              <a:alpha val="70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9380" y="1874520"/>
            <a:ext cx="868680" cy="868680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11" name="Image 1" descr="icons/heartpulse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7863" y="208300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14904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Continuous Monitoring?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543800" y="20116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diseases like asthma, COPD and sleep apnea can worsen suddenly, making constant tracking essential for safety.</a:t>
            </a:r>
            <a:endParaRPr lang="en-US" sz="1150" b="1" dirty="0">
              <a:solidFill>
                <a:schemeClr val="bg1"/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89052" y="3739896"/>
            <a:ext cx="5349240" cy="2148840"/>
          </a:xfrm>
          <a:prstGeom prst="roundRect">
            <a:avLst>
              <a:gd name="adj" fmla="val 5957"/>
            </a:avLst>
          </a:prstGeom>
          <a:solidFill>
            <a:srgbClr val="112A4E">
              <a:alpha val="70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54380" y="4315968"/>
            <a:ext cx="868680" cy="868680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16" name="Image 2" descr="icons/chip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863" y="4524451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3931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 of Embedded Systems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828800" y="445312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microcontrollers enable low-cost, low-power, real-time biomedical devices outside traditional hospital settings.</a:t>
            </a:r>
            <a:endParaRPr lang="en-US" sz="1150" b="1" dirty="0">
              <a:solidFill>
                <a:schemeClr val="bg1"/>
              </a:solidFill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217920" y="3675888"/>
            <a:ext cx="5349240" cy="2148840"/>
          </a:xfrm>
          <a:prstGeom prst="roundRect">
            <a:avLst>
              <a:gd name="adj" fmla="val 5957"/>
            </a:avLst>
          </a:prstGeom>
          <a:solidFill>
            <a:srgbClr val="112A4E">
              <a:alpha val="70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9380" y="4315968"/>
            <a:ext cx="868680" cy="868680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21" name="Image 3" descr="icons/bell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7863" y="4524451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3931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Early Warning Matters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480097" y="44348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alerts to doctors or caregivers allow timely intervention, preventing emergencies before they escalate.</a:t>
            </a:r>
            <a:endParaRPr lang="en-US" sz="115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 18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ERPM-EWS  |  BIOMEDICAL ENGINEERING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92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20040" y="1326328"/>
            <a:ext cx="5989320" cy="5074920"/>
          </a:xfrm>
          <a:prstGeom prst="roundRect">
            <a:avLst>
              <a:gd name="adj" fmla="val 2523"/>
            </a:avLst>
          </a:prstGeom>
          <a:solidFill>
            <a:srgbClr val="112A4E">
              <a:alpha val="70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8660" y="180136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compact, wearable embedded </a:t>
            </a: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that continuously senses respiration and flags abnormal patterns before they become critical.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Working Principle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8378" y="3067588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respiratory sensor captures chest movement signals, which an embedded controller digitizes, filters and analyzes against trained breathing-pattern thresholds in real time.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Expected Outcome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370832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portable, affordable monitor that delivers instant visual, audible and wireless alerts to caregivers — enabling faster clinical response than conventional monitors</a:t>
            </a:r>
            <a:r>
              <a:rPr lang="en-US" sz="120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09260" y="5509260"/>
            <a:ext cx="594360" cy="594360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12" name="Image 0" descr="icons/stetho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906" y="5651906"/>
            <a:ext cx="309067" cy="309067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812280" y="1234440"/>
            <a:ext cx="4892040" cy="5074920"/>
          </a:xfrm>
          <a:prstGeom prst="roundRect">
            <a:avLst>
              <a:gd name="adj" fmla="val 2617"/>
            </a:avLst>
          </a:prstGeom>
          <a:solidFill>
            <a:srgbClr val="112A4E">
              <a:alpha val="70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8A2BE2">
                <a:alpha val="2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08660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Flow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315200" y="1828800"/>
            <a:ext cx="3886200" cy="457200"/>
          </a:xfrm>
          <a:prstGeom prst="roundRect">
            <a:avLst>
              <a:gd name="adj" fmla="val 18000"/>
            </a:avLst>
          </a:prstGeom>
          <a:solidFill>
            <a:srgbClr val="0F2545">
              <a:alpha val="90000"/>
            </a:srgbClr>
          </a:solidFill>
          <a:ln w="15875">
            <a:solidFill>
              <a:srgbClr val="00E5FF">
                <a:alpha val="80000"/>
              </a:srgbClr>
            </a:solidFill>
            <a:prstDash val="solid"/>
          </a:ln>
          <a:effectLst>
            <a:outerShdw blurRad="127000" dist="50800" dir="16200000" algn="bl" rotWithShape="0">
              <a:srgbClr val="00E5FF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315200" y="1828800"/>
            <a:ext cx="3886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176004" y="2286000"/>
            <a:ext cx="164592" cy="123444"/>
          </a:xfrm>
          <a:prstGeom prst="downArrow">
            <a:avLst/>
          </a:prstGeom>
          <a:solidFill>
            <a:srgbClr val="00E5FF">
              <a:alpha val="7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7315200" y="2409444"/>
            <a:ext cx="3886200" cy="457200"/>
          </a:xfrm>
          <a:prstGeom prst="roundRect">
            <a:avLst>
              <a:gd name="adj" fmla="val 18000"/>
            </a:avLst>
          </a:prstGeom>
          <a:solidFill>
            <a:srgbClr val="0F2545">
              <a:alpha val="90000"/>
            </a:srgbClr>
          </a:solidFill>
          <a:ln w="15875">
            <a:solidFill>
              <a:srgbClr val="00E5FF">
                <a:alpha val="80000"/>
              </a:srgbClr>
            </a:solidFill>
            <a:prstDash val="solid"/>
          </a:ln>
          <a:effectLst>
            <a:outerShdw blurRad="127000" dist="50800" dir="16200000" algn="bl" rotWithShape="0">
              <a:srgbClr val="00E5FF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315200" y="2409444"/>
            <a:ext cx="3886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Sensor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176004" y="2866644"/>
            <a:ext cx="164592" cy="123444"/>
          </a:xfrm>
          <a:prstGeom prst="downArrow">
            <a:avLst/>
          </a:prstGeom>
          <a:solidFill>
            <a:srgbClr val="00E5FF">
              <a:alpha val="75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7315200" y="2990088"/>
            <a:ext cx="3886200" cy="457200"/>
          </a:xfrm>
          <a:prstGeom prst="roundRect">
            <a:avLst>
              <a:gd name="adj" fmla="val 18000"/>
            </a:avLst>
          </a:prstGeom>
          <a:solidFill>
            <a:srgbClr val="0F2545">
              <a:alpha val="90000"/>
            </a:srgbClr>
          </a:solidFill>
          <a:ln w="15875">
            <a:solidFill>
              <a:srgbClr val="00E5FF">
                <a:alpha val="80000"/>
              </a:srgbClr>
            </a:solidFill>
            <a:prstDash val="solid"/>
          </a:ln>
          <a:effectLst>
            <a:outerShdw blurRad="127000" dist="50800" dir="16200000" algn="bl" rotWithShape="0">
              <a:srgbClr val="00E5FF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315200" y="2990088"/>
            <a:ext cx="3886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Controller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(ESP32 / Arduino)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176004" y="3447288"/>
            <a:ext cx="164592" cy="123444"/>
          </a:xfrm>
          <a:prstGeom prst="downArrow">
            <a:avLst/>
          </a:prstGeom>
          <a:solidFill>
            <a:srgbClr val="00E5FF">
              <a:alpha val="75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7315200" y="3570732"/>
            <a:ext cx="3886200" cy="457200"/>
          </a:xfrm>
          <a:prstGeom prst="roundRect">
            <a:avLst>
              <a:gd name="adj" fmla="val 18000"/>
            </a:avLst>
          </a:prstGeom>
          <a:solidFill>
            <a:srgbClr val="0F2545">
              <a:alpha val="90000"/>
            </a:srgbClr>
          </a:solidFill>
          <a:ln w="15875">
            <a:solidFill>
              <a:srgbClr val="00E5FF">
                <a:alpha val="80000"/>
              </a:srgbClr>
            </a:solidFill>
            <a:prstDash val="solid"/>
          </a:ln>
          <a:effectLst>
            <a:outerShdw blurRad="127000" dist="50800" dir="16200000" algn="bl" rotWithShape="0">
              <a:srgbClr val="00E5FF">
                <a:alpha val="2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315200" y="3570732"/>
            <a:ext cx="3886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176004" y="4027932"/>
            <a:ext cx="164592" cy="123444"/>
          </a:xfrm>
          <a:prstGeom prst="downArrow">
            <a:avLst/>
          </a:prstGeom>
          <a:solidFill>
            <a:srgbClr val="00E5FF">
              <a:alpha val="75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7315200" y="4151376"/>
            <a:ext cx="3886200" cy="457200"/>
          </a:xfrm>
          <a:prstGeom prst="roundRect">
            <a:avLst>
              <a:gd name="adj" fmla="val 18000"/>
            </a:avLst>
          </a:prstGeom>
          <a:solidFill>
            <a:srgbClr val="0F2545">
              <a:alpha val="90000"/>
            </a:srgbClr>
          </a:solidFill>
          <a:ln w="15875">
            <a:solidFill>
              <a:srgbClr val="00E5FF">
                <a:alpha val="80000"/>
              </a:srgbClr>
            </a:solidFill>
            <a:prstDash val="solid"/>
          </a:ln>
          <a:effectLst>
            <a:outerShdw blurRad="127000" dist="50800" dir="16200000" algn="bl" rotWithShape="0">
              <a:srgbClr val="00E5FF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315200" y="4151376"/>
            <a:ext cx="3886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Pattern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9176004" y="4608576"/>
            <a:ext cx="164592" cy="123444"/>
          </a:xfrm>
          <a:prstGeom prst="downArrow">
            <a:avLst/>
          </a:prstGeom>
          <a:solidFill>
            <a:srgbClr val="00E5FF">
              <a:alpha val="75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7315200" y="4732020"/>
            <a:ext cx="3886200" cy="457200"/>
          </a:xfrm>
          <a:prstGeom prst="roundRect">
            <a:avLst>
              <a:gd name="adj" fmla="val 18000"/>
            </a:avLst>
          </a:prstGeom>
          <a:solidFill>
            <a:srgbClr val="0F2545">
              <a:alpha val="90000"/>
            </a:srgbClr>
          </a:solidFill>
          <a:ln w="15875">
            <a:solidFill>
              <a:srgbClr val="00E5FF">
                <a:alpha val="80000"/>
              </a:srgbClr>
            </a:solidFill>
            <a:prstDash val="solid"/>
          </a:ln>
          <a:effectLst>
            <a:outerShdw blurRad="127000" dist="50800" dir="16200000" algn="bl" rotWithShape="0">
              <a:srgbClr val="00E5FF">
                <a:alpha val="25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315200" y="4732020"/>
            <a:ext cx="3886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Alert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9176004" y="5189220"/>
            <a:ext cx="164592" cy="123444"/>
          </a:xfrm>
          <a:prstGeom prst="downArrow">
            <a:avLst/>
          </a:prstGeom>
          <a:solidFill>
            <a:srgbClr val="00E5FF">
              <a:alpha val="75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7315200" y="5312664"/>
            <a:ext cx="3886200" cy="457200"/>
          </a:xfrm>
          <a:prstGeom prst="roundRect">
            <a:avLst>
              <a:gd name="adj" fmla="val 18000"/>
            </a:avLst>
          </a:prstGeom>
          <a:solidFill>
            <a:srgbClr val="0F2545">
              <a:alpha val="90000"/>
            </a:srgbClr>
          </a:solidFill>
          <a:ln w="15875">
            <a:solidFill>
              <a:srgbClr val="00E5FF">
                <a:alpha val="80000"/>
              </a:srgbClr>
            </a:solidFill>
            <a:prstDash val="solid"/>
          </a:ln>
          <a:effectLst>
            <a:outerShdw blurRad="127000" dist="50800" dir="16200000" algn="bl" rotWithShape="0">
              <a:srgbClr val="00E5FF">
                <a:alpha val="2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7315200" y="5312664"/>
            <a:ext cx="3886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/ Caregiver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ERPM-EWS  |  BIOMEDICAL ENGINEERING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79DF71-FFF3-46B8-9ABE-38A6DF082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203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92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139696" cy="3383280"/>
          </a:xfrm>
          <a:prstGeom prst="roundRect">
            <a:avLst>
              <a:gd name="adj" fmla="val 5983"/>
            </a:avLst>
          </a:prstGeom>
          <a:solidFill>
            <a:srgbClr val="112A4E">
              <a:alpha val="70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8A2BE2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4148" y="1805940"/>
            <a:ext cx="777240" cy="777240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8A2BE2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8A2BE2">
                <a:alpha val="35000"/>
              </a:srgbClr>
            </a:outerShdw>
          </a:effectLst>
        </p:spPr>
      </p:sp>
      <p:pic>
        <p:nvPicPr>
          <p:cNvPr id="6" name="Image 0" descr="icons/heartpulse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686" y="199247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" y="278892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Increasing Respiratory Diseases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3566160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asthma, COPD and sleep-related disorders demand scalable monitoring.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2862072" y="1417320"/>
            <a:ext cx="2139696" cy="3383280"/>
          </a:xfrm>
          <a:prstGeom prst="roundRect">
            <a:avLst>
              <a:gd name="adj" fmla="val 5983"/>
            </a:avLst>
          </a:prstGeom>
          <a:solidFill>
            <a:srgbClr val="112A4E">
              <a:alpha val="70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8A2BE2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43300" y="1805940"/>
            <a:ext cx="777240" cy="777240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8A2BE2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8A2BE2">
                <a:alpha val="35000"/>
              </a:srgbClr>
            </a:outerShdw>
          </a:effectLst>
        </p:spPr>
      </p:sp>
      <p:pic>
        <p:nvPicPr>
          <p:cNvPr id="11" name="Image 1" descr="icons/dollar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9838" y="199247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26664" y="278892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Expensive Monitoring Equipment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044952" y="3566160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ICU-grade monitors are costly, limiting access for most patients</a:t>
            </a:r>
            <a:r>
              <a:rPr lang="en-US" sz="100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221224" y="1417320"/>
            <a:ext cx="2139696" cy="3383280"/>
          </a:xfrm>
          <a:prstGeom prst="roundRect">
            <a:avLst>
              <a:gd name="adj" fmla="val 5983"/>
            </a:avLst>
          </a:prstGeom>
          <a:solidFill>
            <a:srgbClr val="112A4E">
              <a:alpha val="70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8A2BE2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902452" y="1805940"/>
            <a:ext cx="777240" cy="777240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8A2BE2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8A2BE2">
                <a:alpha val="35000"/>
              </a:srgbClr>
            </a:outerShdw>
          </a:effectLst>
        </p:spPr>
      </p:sp>
      <p:pic>
        <p:nvPicPr>
          <p:cNvPr id="16" name="Image 2" descr="icons/weight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8990" y="199247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85816" y="278892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Lack of Portable Monitoring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404104" y="3566160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devices are bulky and confined to hospital settings</a:t>
            </a:r>
            <a:r>
              <a:rPr lang="en-US" sz="100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580376" y="1417320"/>
            <a:ext cx="2139696" cy="3383280"/>
          </a:xfrm>
          <a:prstGeom prst="roundRect">
            <a:avLst>
              <a:gd name="adj" fmla="val 5983"/>
            </a:avLst>
          </a:prstGeom>
          <a:solidFill>
            <a:srgbClr val="112A4E">
              <a:alpha val="70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8A2BE2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61604" y="1805940"/>
            <a:ext cx="777240" cy="777240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8A2BE2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8A2BE2">
                <a:alpha val="35000"/>
              </a:srgbClr>
            </a:outerShdw>
          </a:effectLst>
        </p:spPr>
      </p:sp>
      <p:pic>
        <p:nvPicPr>
          <p:cNvPr id="21" name="Image 3" descr="icons/warn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8142" y="199247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44968" y="278892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Delayed Emergency Detection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763256" y="3566160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observation leads to slow response during sudden distress.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4" name="Shape 18"/>
          <p:cNvSpPr/>
          <p:nvPr/>
        </p:nvSpPr>
        <p:spPr>
          <a:xfrm>
            <a:off x="9939528" y="1417320"/>
            <a:ext cx="2139696" cy="3383280"/>
          </a:xfrm>
          <a:prstGeom prst="roundRect">
            <a:avLst>
              <a:gd name="adj" fmla="val 5983"/>
            </a:avLst>
          </a:prstGeom>
          <a:solidFill>
            <a:srgbClr val="112A4E">
              <a:alpha val="70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620756" y="1805940"/>
            <a:ext cx="777240" cy="777240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26" name="Image 4" descr="icons/chip_cy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07294" y="1992478"/>
            <a:ext cx="404165" cy="4041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104120" y="278892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Need for Affordable Embedded Systems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0122408" y="3566160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low-cost, real-time solution is essential for wider healthcare reach.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9" name="Text 22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ERPM-EWS  |  BIOMEDICAL ENGINEERING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Existing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92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CLINICAL APPROACH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669280" cy="5029200"/>
          </a:xfrm>
          <a:prstGeom prst="roundRect">
            <a:avLst>
              <a:gd name="adj" fmla="val 2545"/>
            </a:avLst>
          </a:prstGeom>
          <a:solidFill>
            <a:srgbClr val="112A4E">
              <a:alpha val="70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087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respiratory monitoring relies on ICU respiratory monitors, ventilator monitoring systems and pulse oximeters — all operated within hospital infrastructure.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640080" cy="640080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7" name="Image 0" descr="icons/icu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" y="27139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56946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ICU Respiratory Monitors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600200" y="289864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Bedside units tracking rate and rhythm continuously.</a:t>
            </a:r>
            <a:endParaRPr lang="en-US" sz="1080" b="1" dirty="0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822960" y="3794760"/>
            <a:ext cx="640080" cy="640080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11" name="Image 1" descr="icons/kit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" y="39483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8039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Ventilator Monitoring Systems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600200" y="41330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with life-support machines in critical care.</a:t>
            </a:r>
            <a:endParaRPr lang="en-US" sz="1080" b="1" dirty="0">
              <a:solidFill>
                <a:schemeClr val="bg1"/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22960" y="5029200"/>
            <a:ext cx="640080" cy="640080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15" name="Image 2" descr="icons/heartpulse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579" y="518281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503834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Pulse Oximeters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600200" y="536752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Clip-on sensors estimating oxygen saturation and pulse.</a:t>
            </a:r>
            <a:endParaRPr lang="en-US" sz="1080" b="1" dirty="0">
              <a:solidFill>
                <a:schemeClr val="bg1"/>
              </a:solidFill>
            </a:endParaRPr>
          </a:p>
        </p:txBody>
      </p:sp>
      <p:sp>
        <p:nvSpPr>
          <p:cNvPr id="18" name="Shape 13"/>
          <p:cNvSpPr/>
          <p:nvPr/>
        </p:nvSpPr>
        <p:spPr>
          <a:xfrm>
            <a:off x="6446520" y="1280160"/>
            <a:ext cx="5257800" cy="5029200"/>
          </a:xfrm>
          <a:prstGeom prst="roundRect">
            <a:avLst>
              <a:gd name="adj" fmla="val 2545"/>
            </a:avLst>
          </a:prstGeom>
          <a:solidFill>
            <a:srgbClr val="112A4E">
              <a:alpha val="70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8A2BE2">
                <a:alpha val="28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6720840" y="14630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Existing System — Block Diagram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269480" y="1965960"/>
            <a:ext cx="3611880" cy="475488"/>
          </a:xfrm>
          <a:prstGeom prst="roundRect">
            <a:avLst>
              <a:gd name="adj" fmla="val 17308"/>
            </a:avLst>
          </a:prstGeom>
          <a:solidFill>
            <a:srgbClr val="0F2545">
              <a:alpha val="90000"/>
            </a:srgbClr>
          </a:solidFill>
          <a:ln w="15875">
            <a:solidFill>
              <a:srgbClr val="00E5FF">
                <a:alpha val="80000"/>
              </a:srgbClr>
            </a:solidFill>
            <a:prstDash val="solid"/>
          </a:ln>
          <a:effectLst>
            <a:outerShdw blurRad="127000" dist="50800" dir="16200000" algn="bl" rotWithShape="0">
              <a:srgbClr val="00E5FF">
                <a:alpha val="25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7269480" y="1965960"/>
            <a:ext cx="36118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993124" y="2441448"/>
            <a:ext cx="164592" cy="173736"/>
          </a:xfrm>
          <a:prstGeom prst="downArrow">
            <a:avLst/>
          </a:prstGeom>
          <a:solidFill>
            <a:srgbClr val="00E5FF">
              <a:alpha val="75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7269480" y="2615184"/>
            <a:ext cx="3611880" cy="475488"/>
          </a:xfrm>
          <a:prstGeom prst="roundRect">
            <a:avLst>
              <a:gd name="adj" fmla="val 17308"/>
            </a:avLst>
          </a:prstGeom>
          <a:solidFill>
            <a:srgbClr val="0F2545">
              <a:alpha val="90000"/>
            </a:srgbClr>
          </a:solidFill>
          <a:ln w="15875">
            <a:solidFill>
              <a:srgbClr val="00E5FF">
                <a:alpha val="80000"/>
              </a:srgbClr>
            </a:solidFill>
            <a:prstDash val="solid"/>
          </a:ln>
          <a:effectLst>
            <a:outerShdw blurRad="127000" dist="50800" dir="16200000" algn="bl" rotWithShape="0">
              <a:srgbClr val="00E5FF">
                <a:alpha val="2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7269480" y="2615184"/>
            <a:ext cx="36118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Sensor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993124" y="3090672"/>
            <a:ext cx="164592" cy="173736"/>
          </a:xfrm>
          <a:prstGeom prst="downArrow">
            <a:avLst/>
          </a:prstGeom>
          <a:solidFill>
            <a:srgbClr val="00E5FF">
              <a:alpha val="7500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7269480" y="3264408"/>
            <a:ext cx="3611880" cy="475488"/>
          </a:xfrm>
          <a:prstGeom prst="roundRect">
            <a:avLst>
              <a:gd name="adj" fmla="val 17308"/>
            </a:avLst>
          </a:prstGeom>
          <a:solidFill>
            <a:srgbClr val="0F2545">
              <a:alpha val="90000"/>
            </a:srgbClr>
          </a:solidFill>
          <a:ln w="15875">
            <a:solidFill>
              <a:srgbClr val="00E5FF">
                <a:alpha val="80000"/>
              </a:srgbClr>
            </a:solidFill>
            <a:prstDash val="solid"/>
          </a:ln>
          <a:effectLst>
            <a:outerShdw blurRad="127000" dist="50800" dir="16200000" algn="bl" rotWithShape="0">
              <a:srgbClr val="00E5FF">
                <a:alpha val="25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7269480" y="3264408"/>
            <a:ext cx="36118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Conditioning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8993124" y="3739896"/>
            <a:ext cx="164592" cy="173736"/>
          </a:xfrm>
          <a:prstGeom prst="downArrow">
            <a:avLst/>
          </a:prstGeom>
          <a:solidFill>
            <a:srgbClr val="00E5FF">
              <a:alpha val="75000"/>
            </a:srgbClr>
          </a:solidFill>
          <a:ln/>
        </p:spPr>
      </p:sp>
      <p:sp>
        <p:nvSpPr>
          <p:cNvPr id="29" name="Shape 24"/>
          <p:cNvSpPr/>
          <p:nvPr/>
        </p:nvSpPr>
        <p:spPr>
          <a:xfrm>
            <a:off x="7269480" y="3913632"/>
            <a:ext cx="3611880" cy="475488"/>
          </a:xfrm>
          <a:prstGeom prst="roundRect">
            <a:avLst>
              <a:gd name="adj" fmla="val 17308"/>
            </a:avLst>
          </a:prstGeom>
          <a:solidFill>
            <a:srgbClr val="0F2545">
              <a:alpha val="90000"/>
            </a:srgbClr>
          </a:solidFill>
          <a:ln w="15875">
            <a:solidFill>
              <a:srgbClr val="00E5FF">
                <a:alpha val="80000"/>
              </a:srgbClr>
            </a:solidFill>
            <a:prstDash val="solid"/>
          </a:ln>
          <a:effectLst>
            <a:outerShdw blurRad="127000" dist="50800" dir="16200000" algn="bl" rotWithShape="0">
              <a:srgbClr val="00E5FF">
                <a:alpha val="25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7269480" y="3913632"/>
            <a:ext cx="36118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Monitor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8993124" y="4389120"/>
            <a:ext cx="164592" cy="173736"/>
          </a:xfrm>
          <a:prstGeom prst="downArrow">
            <a:avLst/>
          </a:prstGeom>
          <a:solidFill>
            <a:srgbClr val="00E5FF">
              <a:alpha val="75000"/>
            </a:srgbClr>
          </a:solidFill>
          <a:ln/>
        </p:spPr>
      </p:sp>
      <p:sp>
        <p:nvSpPr>
          <p:cNvPr id="32" name="Shape 27"/>
          <p:cNvSpPr/>
          <p:nvPr/>
        </p:nvSpPr>
        <p:spPr>
          <a:xfrm>
            <a:off x="7269480" y="4562856"/>
            <a:ext cx="3611880" cy="475488"/>
          </a:xfrm>
          <a:prstGeom prst="roundRect">
            <a:avLst>
              <a:gd name="adj" fmla="val 17308"/>
            </a:avLst>
          </a:prstGeom>
          <a:solidFill>
            <a:srgbClr val="0F2545">
              <a:alpha val="90000"/>
            </a:srgbClr>
          </a:solidFill>
          <a:ln w="15875">
            <a:solidFill>
              <a:srgbClr val="00E5FF">
                <a:alpha val="80000"/>
              </a:srgbClr>
            </a:solidFill>
            <a:prstDash val="solid"/>
          </a:ln>
          <a:effectLst>
            <a:outerShdw blurRad="127000" dist="50800" dir="16200000" algn="bl" rotWithShape="0">
              <a:srgbClr val="00E5FF">
                <a:alpha val="25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7269480" y="4562856"/>
            <a:ext cx="36118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Staff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6812280" y="537667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8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are captured at the bedside, conditioned, and displayed on hospital monitors for continuous manual review by medical staff.</a:t>
            </a:r>
            <a:endParaRPr lang="en-US" sz="1080" b="1" dirty="0">
              <a:solidFill>
                <a:schemeClr val="bg1"/>
              </a:solidFill>
            </a:endParaRPr>
          </a:p>
        </p:txBody>
      </p:sp>
      <p:sp>
        <p:nvSpPr>
          <p:cNvPr id="35" name="Text 30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ERPM-EWS  |  BIOMEDICAL ENGINEERING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Drawbacks of Existing Systems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92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97480" cy="1600200"/>
          </a:xfrm>
          <a:prstGeom prst="roundRect">
            <a:avLst>
              <a:gd name="adj" fmla="val 8000"/>
            </a:avLst>
          </a:prstGeom>
          <a:solidFill>
            <a:srgbClr val="112A4E">
              <a:alpha val="75000"/>
            </a:srgbClr>
          </a:solidFill>
          <a:ln w="12700">
            <a:solidFill>
              <a:srgbClr val="FF4D6D">
                <a:alpha val="55000"/>
              </a:srgbClr>
            </a:solidFill>
            <a:prstDash val="solid"/>
          </a:ln>
          <a:effectLst>
            <a:outerShdw blurRad="228600" dist="50800" dir="16200000" algn="bl" rotWithShape="0">
              <a:srgbClr val="FF4D6D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0664" y="1888236"/>
            <a:ext cx="658368" cy="658368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FF4D6D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FF4D6D">
                <a:alpha val="35000"/>
              </a:srgbClr>
            </a:outerShdw>
          </a:effectLst>
        </p:spPr>
      </p:sp>
      <p:pic>
        <p:nvPicPr>
          <p:cNvPr id="6" name="Image 0" descr="icons/dollar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672" y="2046244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417320"/>
            <a:ext cx="1508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 Cost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01568" y="1417320"/>
            <a:ext cx="2697480" cy="1600200"/>
          </a:xfrm>
          <a:prstGeom prst="roundRect">
            <a:avLst>
              <a:gd name="adj" fmla="val 8000"/>
            </a:avLst>
          </a:prstGeom>
          <a:solidFill>
            <a:srgbClr val="112A4E">
              <a:alpha val="75000"/>
            </a:srgbClr>
          </a:solidFill>
          <a:ln w="12700">
            <a:solidFill>
              <a:srgbClr val="FF4D6D">
                <a:alpha val="55000"/>
              </a:srgbClr>
            </a:solidFill>
            <a:prstDash val="solid"/>
          </a:ln>
          <a:effectLst>
            <a:outerShdw blurRad="228600" dist="50800" dir="16200000" algn="bl" rotWithShape="0">
              <a:srgbClr val="FF4D6D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39312" y="1888236"/>
            <a:ext cx="658368" cy="658368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FF4D6D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FF4D6D">
                <a:alpha val="35000"/>
              </a:srgbClr>
            </a:outerShdw>
          </a:effectLst>
        </p:spPr>
      </p:sp>
      <p:pic>
        <p:nvPicPr>
          <p:cNvPr id="10" name="Image 1" descr="icons/weight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7320" y="2046244"/>
            <a:ext cx="342351" cy="3423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07408" y="1417320"/>
            <a:ext cx="1508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Large Equipment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300216" y="1417320"/>
            <a:ext cx="2697480" cy="1600200"/>
          </a:xfrm>
          <a:prstGeom prst="roundRect">
            <a:avLst>
              <a:gd name="adj" fmla="val 8000"/>
            </a:avLst>
          </a:prstGeom>
          <a:solidFill>
            <a:srgbClr val="112A4E">
              <a:alpha val="75000"/>
            </a:srgbClr>
          </a:solidFill>
          <a:ln w="12700">
            <a:solidFill>
              <a:srgbClr val="FF4D6D">
                <a:alpha val="55000"/>
              </a:srgbClr>
            </a:solidFill>
            <a:prstDash val="solid"/>
          </a:ln>
          <a:effectLst>
            <a:outerShdw blurRad="228600" dist="50800" dir="16200000" algn="bl" rotWithShape="0">
              <a:srgbClr val="FF4D6D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37960" y="1888236"/>
            <a:ext cx="658368" cy="658368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FF4D6D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FF4D6D">
                <a:alpha val="35000"/>
              </a:srgbClr>
            </a:outerShdw>
          </a:effectLst>
        </p:spPr>
      </p:sp>
      <p:pic>
        <p:nvPicPr>
          <p:cNvPr id="14" name="Image 2" descr="icons/hospital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5968" y="2046244"/>
            <a:ext cx="342351" cy="34235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06056" y="1417320"/>
            <a:ext cx="1508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Dependent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9198864" y="1417320"/>
            <a:ext cx="2697480" cy="1600200"/>
          </a:xfrm>
          <a:prstGeom prst="roundRect">
            <a:avLst>
              <a:gd name="adj" fmla="val 8000"/>
            </a:avLst>
          </a:prstGeom>
          <a:solidFill>
            <a:srgbClr val="112A4E">
              <a:alpha val="75000"/>
            </a:srgbClr>
          </a:solidFill>
          <a:ln w="12700">
            <a:solidFill>
              <a:srgbClr val="FF4D6D">
                <a:alpha val="55000"/>
              </a:srgbClr>
            </a:solidFill>
            <a:prstDash val="solid"/>
          </a:ln>
          <a:effectLst>
            <a:outerShdw blurRad="228600" dist="50800" dir="16200000" algn="bl" rotWithShape="0">
              <a:srgbClr val="FF4D6D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436608" y="1888236"/>
            <a:ext cx="658368" cy="658368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FF4D6D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FF4D6D">
                <a:alpha val="35000"/>
              </a:srgbClr>
            </a:outerShdw>
          </a:effectLst>
        </p:spPr>
      </p:sp>
      <p:pic>
        <p:nvPicPr>
          <p:cNvPr id="18" name="Image 3" descr="icons/xmark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4616" y="2046244"/>
            <a:ext cx="342351" cy="34235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204704" y="1417320"/>
            <a:ext cx="1508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Portable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02920" y="3273552"/>
            <a:ext cx="2697480" cy="1600200"/>
          </a:xfrm>
          <a:prstGeom prst="roundRect">
            <a:avLst>
              <a:gd name="adj" fmla="val 8000"/>
            </a:avLst>
          </a:prstGeom>
          <a:solidFill>
            <a:srgbClr val="112A4E">
              <a:alpha val="75000"/>
            </a:srgbClr>
          </a:solidFill>
          <a:ln w="12700">
            <a:solidFill>
              <a:srgbClr val="FF4D6D">
                <a:alpha val="55000"/>
              </a:srgbClr>
            </a:solidFill>
            <a:prstDash val="solid"/>
          </a:ln>
          <a:effectLst>
            <a:outerShdw blurRad="228600" dist="50800" dir="16200000" algn="bl" rotWithShape="0">
              <a:srgbClr val="FF4D6D">
                <a:alpha val="2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40664" y="3744468"/>
            <a:ext cx="658368" cy="658368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FF4D6D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FF4D6D">
                <a:alpha val="35000"/>
              </a:srgbClr>
            </a:outerShdw>
          </a:effectLst>
        </p:spPr>
      </p:sp>
      <p:pic>
        <p:nvPicPr>
          <p:cNvPr id="22" name="Image 4" descr="icons/gauge_cy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8672" y="3902476"/>
            <a:ext cx="342351" cy="34235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3273552"/>
            <a:ext cx="1508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 Maintenance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3401568" y="3273552"/>
            <a:ext cx="2697480" cy="1600200"/>
          </a:xfrm>
          <a:prstGeom prst="roundRect">
            <a:avLst>
              <a:gd name="adj" fmla="val 8000"/>
            </a:avLst>
          </a:prstGeom>
          <a:solidFill>
            <a:srgbClr val="112A4E">
              <a:alpha val="75000"/>
            </a:srgbClr>
          </a:solidFill>
          <a:ln w="12700">
            <a:solidFill>
              <a:srgbClr val="FF4D6D">
                <a:alpha val="55000"/>
              </a:srgbClr>
            </a:solidFill>
            <a:prstDash val="solid"/>
          </a:ln>
          <a:effectLst>
            <a:outerShdw blurRad="228600" dist="50800" dir="16200000" algn="bl" rotWithShape="0">
              <a:srgbClr val="FF4D6D">
                <a:alpha val="2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639312" y="3744468"/>
            <a:ext cx="658368" cy="658368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FF4D6D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FF4D6D">
                <a:alpha val="35000"/>
              </a:srgbClr>
            </a:outerShdw>
          </a:effectLst>
        </p:spPr>
      </p:sp>
      <p:pic>
        <p:nvPicPr>
          <p:cNvPr id="26" name="Image 5" descr="icons/warn_r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97320" y="3902476"/>
            <a:ext cx="342351" cy="342351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407408" y="3273552"/>
            <a:ext cx="1508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Delayed Emergency Alert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300216" y="3273552"/>
            <a:ext cx="2697480" cy="1600200"/>
          </a:xfrm>
          <a:prstGeom prst="roundRect">
            <a:avLst>
              <a:gd name="adj" fmla="val 8000"/>
            </a:avLst>
          </a:prstGeom>
          <a:solidFill>
            <a:srgbClr val="112A4E">
              <a:alpha val="75000"/>
            </a:srgbClr>
          </a:solidFill>
          <a:ln w="12700">
            <a:solidFill>
              <a:srgbClr val="FF4D6D">
                <a:alpha val="55000"/>
              </a:srgbClr>
            </a:solidFill>
            <a:prstDash val="solid"/>
          </a:ln>
          <a:effectLst>
            <a:outerShdw blurRad="228600" dist="50800" dir="16200000" algn="bl" rotWithShape="0">
              <a:srgbClr val="FF4D6D">
                <a:alpha val="2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6537960" y="3744468"/>
            <a:ext cx="658368" cy="658368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FF4D6D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FF4D6D">
                <a:alpha val="35000"/>
              </a:srgbClr>
            </a:outerShdw>
          </a:effectLst>
        </p:spPr>
      </p:sp>
      <p:pic>
        <p:nvPicPr>
          <p:cNvPr id="30" name="Image 6" descr="icons/wifi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95968" y="3902476"/>
            <a:ext cx="342351" cy="342351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306056" y="3273552"/>
            <a:ext cx="1508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Remote Monitoring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ERPM-EWS  |  BIOMEDICAL ENGINEERING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We Overcome the Drawbacks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92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522976" cy="502920"/>
          </a:xfrm>
          <a:prstGeom prst="roundRect">
            <a:avLst>
              <a:gd name="adj" fmla="val 14545"/>
            </a:avLst>
          </a:prstGeom>
          <a:solidFill>
            <a:srgbClr val="FF4D6D">
              <a:alpha val="22000"/>
            </a:srgbClr>
          </a:solidFill>
          <a:ln w="12700">
            <a:solidFill>
              <a:srgbClr val="FF4D6D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35624" y="1280160"/>
            <a:ext cx="5522976" cy="502920"/>
          </a:xfrm>
          <a:prstGeom prst="roundRect">
            <a:avLst>
              <a:gd name="adj" fmla="val 14545"/>
            </a:avLst>
          </a:prstGeom>
          <a:solidFill>
            <a:srgbClr val="00E5FF">
              <a:alpha val="22000"/>
            </a:srgbClr>
          </a:solidFill>
          <a:ln w="12700">
            <a:solidFill>
              <a:srgbClr val="00E5FF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5522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EXISTING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35624" y="1280160"/>
            <a:ext cx="5522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EMBEDDED SYSTEM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911096"/>
            <a:ext cx="5522976" cy="621792"/>
          </a:xfrm>
          <a:prstGeom prst="roundRect">
            <a:avLst>
              <a:gd name="adj" fmla="val 20588"/>
            </a:avLst>
          </a:prstGeom>
          <a:solidFill>
            <a:srgbClr val="112A4E">
              <a:alpha val="65000"/>
            </a:srgbClr>
          </a:solidFill>
          <a:ln w="12700">
            <a:solidFill>
              <a:srgbClr val="FF4D6D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35624" y="1911096"/>
            <a:ext cx="5522976" cy="621792"/>
          </a:xfrm>
          <a:prstGeom prst="roundRect">
            <a:avLst>
              <a:gd name="adj" fmla="val 20588"/>
            </a:avLst>
          </a:prstGeom>
          <a:solidFill>
            <a:srgbClr val="112A4E">
              <a:alpha val="65000"/>
            </a:srgbClr>
          </a:solidFill>
          <a:ln w="12700">
            <a:solidFill>
              <a:srgbClr val="00E5FF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11096"/>
            <a:ext cx="5522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1300" b="1" dirty="0"/>
          </a:p>
        </p:txBody>
      </p:sp>
      <p:sp>
        <p:nvSpPr>
          <p:cNvPr id="11" name="Text 9"/>
          <p:cNvSpPr/>
          <p:nvPr/>
        </p:nvSpPr>
        <p:spPr>
          <a:xfrm>
            <a:off x="6135624" y="1911096"/>
            <a:ext cx="5522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1300" dirty="0"/>
          </a:p>
        </p:txBody>
      </p:sp>
      <p:pic>
        <p:nvPicPr>
          <p:cNvPr id="12" name="Image 0" descr="icons/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2103120"/>
            <a:ext cx="237744" cy="23774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84632" y="2660904"/>
            <a:ext cx="5522976" cy="621792"/>
          </a:xfrm>
          <a:prstGeom prst="roundRect">
            <a:avLst>
              <a:gd name="adj" fmla="val 20588"/>
            </a:avLst>
          </a:prstGeom>
          <a:solidFill>
            <a:srgbClr val="112A4E">
              <a:alpha val="65000"/>
            </a:srgbClr>
          </a:solidFill>
          <a:ln w="12700">
            <a:solidFill>
              <a:srgbClr val="FF4D6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Shape 11"/>
          <p:cNvSpPr/>
          <p:nvPr/>
        </p:nvSpPr>
        <p:spPr>
          <a:xfrm>
            <a:off x="6135624" y="2660904"/>
            <a:ext cx="5522976" cy="621792"/>
          </a:xfrm>
          <a:prstGeom prst="roundRect">
            <a:avLst>
              <a:gd name="adj" fmla="val 20588"/>
            </a:avLst>
          </a:prstGeom>
          <a:solidFill>
            <a:srgbClr val="112A4E">
              <a:alpha val="65000"/>
            </a:srgbClr>
          </a:solidFill>
          <a:ln w="12700">
            <a:solidFill>
              <a:srgbClr val="00E5FF">
                <a:alpha val="5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2660904"/>
            <a:ext cx="5522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Only</a:t>
            </a:r>
            <a:endParaRPr lang="en-US" sz="1300" b="1" dirty="0"/>
          </a:p>
        </p:txBody>
      </p:sp>
      <p:sp>
        <p:nvSpPr>
          <p:cNvPr id="16" name="Text 13"/>
          <p:cNvSpPr/>
          <p:nvPr/>
        </p:nvSpPr>
        <p:spPr>
          <a:xfrm>
            <a:off x="6135624" y="2660904"/>
            <a:ext cx="5522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+ Hospital</a:t>
            </a:r>
            <a:endParaRPr lang="en-US" sz="1300" dirty="0"/>
          </a:p>
        </p:txBody>
      </p:sp>
      <p:pic>
        <p:nvPicPr>
          <p:cNvPr id="17" name="Image 1" descr="icons/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2852928"/>
            <a:ext cx="237744" cy="23774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02920" y="3429000"/>
            <a:ext cx="5522976" cy="621792"/>
          </a:xfrm>
          <a:prstGeom prst="roundRect">
            <a:avLst>
              <a:gd name="adj" fmla="val 20588"/>
            </a:avLst>
          </a:prstGeom>
          <a:solidFill>
            <a:srgbClr val="112A4E">
              <a:alpha val="65000"/>
            </a:srgbClr>
          </a:solidFill>
          <a:ln w="12700">
            <a:solidFill>
              <a:srgbClr val="FF4D6D">
                <a:alpha val="4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35624" y="3410712"/>
            <a:ext cx="5522976" cy="621792"/>
          </a:xfrm>
          <a:prstGeom prst="roundRect">
            <a:avLst>
              <a:gd name="adj" fmla="val 20588"/>
            </a:avLst>
          </a:prstGeom>
          <a:solidFill>
            <a:srgbClr val="112A4E">
              <a:alpha val="65000"/>
            </a:srgbClr>
          </a:solidFill>
          <a:ln w="12700">
            <a:solidFill>
              <a:srgbClr val="00E5FF">
                <a:alpha val="55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2920" y="3410712"/>
            <a:ext cx="5522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</a:t>
            </a:r>
            <a:endParaRPr lang="en-US" sz="1300" b="1" dirty="0"/>
          </a:p>
        </p:txBody>
      </p:sp>
      <p:sp>
        <p:nvSpPr>
          <p:cNvPr id="21" name="Text 17"/>
          <p:cNvSpPr/>
          <p:nvPr/>
        </p:nvSpPr>
        <p:spPr>
          <a:xfrm>
            <a:off x="6135624" y="3410712"/>
            <a:ext cx="5522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Monitoring</a:t>
            </a:r>
            <a:endParaRPr lang="en-US" sz="1300" dirty="0"/>
          </a:p>
        </p:txBody>
      </p:sp>
      <p:pic>
        <p:nvPicPr>
          <p:cNvPr id="22" name="Image 2" descr="icons/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3602736"/>
            <a:ext cx="237744" cy="237744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02920" y="4163658"/>
            <a:ext cx="5522976" cy="621792"/>
          </a:xfrm>
          <a:prstGeom prst="roundRect">
            <a:avLst>
              <a:gd name="adj" fmla="val 20588"/>
            </a:avLst>
          </a:prstGeom>
          <a:solidFill>
            <a:srgbClr val="112A4E">
              <a:alpha val="65000"/>
            </a:srgbClr>
          </a:solidFill>
          <a:ln w="12700">
            <a:solidFill>
              <a:srgbClr val="FF4D6D">
                <a:alpha val="4000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135624" y="4160520"/>
            <a:ext cx="5522976" cy="621792"/>
          </a:xfrm>
          <a:prstGeom prst="roundRect">
            <a:avLst>
              <a:gd name="adj" fmla="val 20588"/>
            </a:avLst>
          </a:prstGeom>
          <a:solidFill>
            <a:srgbClr val="112A4E">
              <a:alpha val="65000"/>
            </a:srgbClr>
          </a:solidFill>
          <a:ln w="12700">
            <a:solidFill>
              <a:srgbClr val="00E5FF">
                <a:alpha val="55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02920" y="4160520"/>
            <a:ext cx="5522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Remote Access</a:t>
            </a:r>
            <a:endParaRPr lang="en-US" sz="1300" b="1" dirty="0"/>
          </a:p>
        </p:txBody>
      </p:sp>
      <p:sp>
        <p:nvSpPr>
          <p:cNvPr id="26" name="Text 21"/>
          <p:cNvSpPr/>
          <p:nvPr/>
        </p:nvSpPr>
        <p:spPr>
          <a:xfrm>
            <a:off x="6135624" y="4160520"/>
            <a:ext cx="5522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Monitoring</a:t>
            </a:r>
            <a:endParaRPr lang="en-US" sz="1300" dirty="0"/>
          </a:p>
        </p:txBody>
      </p:sp>
      <p:pic>
        <p:nvPicPr>
          <p:cNvPr id="27" name="Image 3" descr="icons/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4352544"/>
            <a:ext cx="237744" cy="237744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502920" y="4910328"/>
            <a:ext cx="5522976" cy="621792"/>
          </a:xfrm>
          <a:prstGeom prst="roundRect">
            <a:avLst>
              <a:gd name="adj" fmla="val 20588"/>
            </a:avLst>
          </a:prstGeom>
          <a:solidFill>
            <a:srgbClr val="112A4E">
              <a:alpha val="65000"/>
            </a:srgbClr>
          </a:solidFill>
          <a:ln w="12700">
            <a:solidFill>
              <a:srgbClr val="FF4D6D">
                <a:alpha val="4000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135624" y="4910328"/>
            <a:ext cx="5522976" cy="621792"/>
          </a:xfrm>
          <a:prstGeom prst="roundRect">
            <a:avLst>
              <a:gd name="adj" fmla="val 20588"/>
            </a:avLst>
          </a:prstGeom>
          <a:solidFill>
            <a:srgbClr val="112A4E">
              <a:alpha val="65000"/>
            </a:srgbClr>
          </a:solidFill>
          <a:ln w="12700">
            <a:solidFill>
              <a:srgbClr val="00E5FF">
                <a:alpha val="55000"/>
              </a:srgbClr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02920" y="4910328"/>
            <a:ext cx="5522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Alert</a:t>
            </a:r>
            <a:endParaRPr lang="en-US" sz="1300" b="1" dirty="0"/>
          </a:p>
        </p:txBody>
      </p:sp>
      <p:sp>
        <p:nvSpPr>
          <p:cNvPr id="31" name="Text 25"/>
          <p:cNvSpPr/>
          <p:nvPr/>
        </p:nvSpPr>
        <p:spPr>
          <a:xfrm>
            <a:off x="6135624" y="4910328"/>
            <a:ext cx="5522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</a:t>
            </a:r>
            <a:endParaRPr lang="en-US" sz="1300" dirty="0"/>
          </a:p>
        </p:txBody>
      </p:sp>
      <p:pic>
        <p:nvPicPr>
          <p:cNvPr id="32" name="Image 4" descr="icons/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5102352"/>
            <a:ext cx="237744" cy="237744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02920" y="5660136"/>
            <a:ext cx="5522976" cy="621792"/>
          </a:xfrm>
          <a:prstGeom prst="roundRect">
            <a:avLst>
              <a:gd name="adj" fmla="val 20588"/>
            </a:avLst>
          </a:prstGeom>
          <a:solidFill>
            <a:srgbClr val="112A4E">
              <a:alpha val="65000"/>
            </a:srgbClr>
          </a:solidFill>
          <a:ln w="12700">
            <a:solidFill>
              <a:srgbClr val="FF4D6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4" name="Shape 27"/>
          <p:cNvSpPr/>
          <p:nvPr/>
        </p:nvSpPr>
        <p:spPr>
          <a:xfrm>
            <a:off x="6135624" y="5660136"/>
            <a:ext cx="5522976" cy="621792"/>
          </a:xfrm>
          <a:prstGeom prst="roundRect">
            <a:avLst>
              <a:gd name="adj" fmla="val 20588"/>
            </a:avLst>
          </a:prstGeom>
          <a:solidFill>
            <a:srgbClr val="112A4E">
              <a:alpha val="65000"/>
            </a:srgbClr>
          </a:solidFill>
          <a:ln w="12700">
            <a:solidFill>
              <a:srgbClr val="00E5FF">
                <a:alpha val="55000"/>
              </a:srgbClr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02920" y="5660136"/>
            <a:ext cx="5522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Bulky Device</a:t>
            </a:r>
            <a:endParaRPr lang="en-US" sz="1300" b="1" dirty="0"/>
          </a:p>
        </p:txBody>
      </p:sp>
      <p:sp>
        <p:nvSpPr>
          <p:cNvPr id="36" name="Text 29"/>
          <p:cNvSpPr/>
          <p:nvPr/>
        </p:nvSpPr>
        <p:spPr>
          <a:xfrm>
            <a:off x="6135624" y="5660136"/>
            <a:ext cx="5522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Device</a:t>
            </a:r>
            <a:endParaRPr lang="en-US" sz="1300" dirty="0"/>
          </a:p>
        </p:txBody>
      </p:sp>
      <p:pic>
        <p:nvPicPr>
          <p:cNvPr id="37" name="Image 5" descr="icons/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5852160"/>
            <a:ext cx="237744" cy="23774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ERPM-EWS  |  BIOMEDICAL ENGINEERING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92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ARCHITECTURE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611880" cy="1417320"/>
          </a:xfrm>
          <a:prstGeom prst="roundRect">
            <a:avLst>
              <a:gd name="adj" fmla="val 9032"/>
            </a:avLst>
          </a:prstGeom>
          <a:solidFill>
            <a:srgbClr val="112A4E">
              <a:alpha val="7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0664" y="1751076"/>
            <a:ext cx="658368" cy="658368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6" name="Image 0" descr="icons/lungs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672" y="1909084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30752" y="1444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508760" y="13716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</a:t>
            </a:r>
            <a:endParaRPr lang="en-US" sz="1250" dirty="0"/>
          </a:p>
        </p:txBody>
      </p:sp>
      <p:pic>
        <p:nvPicPr>
          <p:cNvPr id="9" name="Image 1" descr="icons/arrow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32" y="1988820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70832" y="1371600"/>
            <a:ext cx="3611880" cy="1417320"/>
          </a:xfrm>
          <a:prstGeom prst="roundRect">
            <a:avLst>
              <a:gd name="adj" fmla="val 9032"/>
            </a:avLst>
          </a:prstGeom>
          <a:solidFill>
            <a:srgbClr val="112A4E">
              <a:alpha val="7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08576" y="1751076"/>
            <a:ext cx="658368" cy="658368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12" name="Image 2" descr="icons/stetho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6584" y="1909084"/>
            <a:ext cx="342351" cy="34235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98664" y="1444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376672" y="13716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Respiratory Sensor</a:t>
            </a:r>
            <a:endParaRPr lang="en-US" sz="1250" dirty="0"/>
          </a:p>
        </p:txBody>
      </p:sp>
      <p:pic>
        <p:nvPicPr>
          <p:cNvPr id="15" name="Image 3" descr="icons/arrow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144" y="1988820"/>
            <a:ext cx="201168" cy="20116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238744" y="1371600"/>
            <a:ext cx="3611880" cy="1417320"/>
          </a:xfrm>
          <a:prstGeom prst="roundRect">
            <a:avLst>
              <a:gd name="adj" fmla="val 9032"/>
            </a:avLst>
          </a:prstGeom>
          <a:solidFill>
            <a:srgbClr val="112A4E">
              <a:alpha val="7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476488" y="1751076"/>
            <a:ext cx="658368" cy="658368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18" name="Image 4" descr="icons/wave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4496" y="1909084"/>
            <a:ext cx="342351" cy="34235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466576" y="1444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9244584" y="13716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Signal Conditioning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502920" y="3044952"/>
            <a:ext cx="3611880" cy="1417320"/>
          </a:xfrm>
          <a:prstGeom prst="roundRect">
            <a:avLst>
              <a:gd name="adj" fmla="val 9032"/>
            </a:avLst>
          </a:prstGeom>
          <a:solidFill>
            <a:srgbClr val="112A4E">
              <a:alpha val="7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740664" y="3424428"/>
            <a:ext cx="658368" cy="658368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23" name="Image 5" descr="icons/chip_cy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8672" y="3582436"/>
            <a:ext cx="342351" cy="342351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730752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1508760" y="3044952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ESP32 / Arduino Nano</a:t>
            </a:r>
            <a:endParaRPr lang="en-US" sz="1250" dirty="0"/>
          </a:p>
        </p:txBody>
      </p:sp>
      <p:pic>
        <p:nvPicPr>
          <p:cNvPr id="26" name="Image 6" descr="icons/arrow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32" y="3662172"/>
            <a:ext cx="201168" cy="201168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4370832" y="3044952"/>
            <a:ext cx="3611880" cy="1417320"/>
          </a:xfrm>
          <a:prstGeom prst="roundRect">
            <a:avLst>
              <a:gd name="adj" fmla="val 9032"/>
            </a:avLst>
          </a:prstGeom>
          <a:solidFill>
            <a:srgbClr val="112A4E">
              <a:alpha val="7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4608576" y="3424428"/>
            <a:ext cx="658368" cy="658368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29" name="Image 7" descr="icons/gauge_cy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6584" y="3582436"/>
            <a:ext cx="342351" cy="342351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598664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1"/>
          <p:cNvSpPr/>
          <p:nvPr/>
        </p:nvSpPr>
        <p:spPr>
          <a:xfrm>
            <a:off x="5376672" y="3044952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Respiratory Pattern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Detection Algorithm</a:t>
            </a:r>
            <a:endParaRPr lang="en-US" sz="1250" dirty="0"/>
          </a:p>
        </p:txBody>
      </p:sp>
      <p:pic>
        <p:nvPicPr>
          <p:cNvPr id="32" name="Image 8" descr="icons/arrow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144" y="3662172"/>
            <a:ext cx="201168" cy="201168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8238744" y="3044952"/>
            <a:ext cx="3611880" cy="1417320"/>
          </a:xfrm>
          <a:prstGeom prst="roundRect">
            <a:avLst>
              <a:gd name="adj" fmla="val 9032"/>
            </a:avLst>
          </a:prstGeom>
          <a:solidFill>
            <a:srgbClr val="112A4E">
              <a:alpha val="7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34" name="Shape 23"/>
          <p:cNvSpPr/>
          <p:nvPr/>
        </p:nvSpPr>
        <p:spPr>
          <a:xfrm>
            <a:off x="8476488" y="3424428"/>
            <a:ext cx="658368" cy="658368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35" name="Image 9" descr="icons/mobile_cya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34496" y="3582436"/>
            <a:ext cx="342351" cy="34235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11466576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25"/>
          <p:cNvSpPr/>
          <p:nvPr/>
        </p:nvSpPr>
        <p:spPr>
          <a:xfrm>
            <a:off x="9244584" y="3044952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LCD Display</a:t>
            </a:r>
            <a:endParaRPr lang="en-US" sz="1250" dirty="0"/>
          </a:p>
        </p:txBody>
      </p:sp>
      <p:sp>
        <p:nvSpPr>
          <p:cNvPr id="38" name="Shape 26"/>
          <p:cNvSpPr/>
          <p:nvPr/>
        </p:nvSpPr>
        <p:spPr>
          <a:xfrm>
            <a:off x="502920" y="4718304"/>
            <a:ext cx="3611880" cy="1417320"/>
          </a:xfrm>
          <a:prstGeom prst="roundRect">
            <a:avLst>
              <a:gd name="adj" fmla="val 9032"/>
            </a:avLst>
          </a:prstGeom>
          <a:solidFill>
            <a:srgbClr val="112A4E">
              <a:alpha val="7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39" name="Shape 27"/>
          <p:cNvSpPr/>
          <p:nvPr/>
        </p:nvSpPr>
        <p:spPr>
          <a:xfrm>
            <a:off x="740664" y="5097780"/>
            <a:ext cx="658368" cy="658368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40" name="Image 10" descr="icons/bell_cya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8672" y="5255788"/>
            <a:ext cx="342351" cy="342351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3730752" y="4791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2" name="Text 29"/>
          <p:cNvSpPr/>
          <p:nvPr/>
        </p:nvSpPr>
        <p:spPr>
          <a:xfrm>
            <a:off x="1508760" y="4718304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Buzzer</a:t>
            </a:r>
            <a:endParaRPr lang="en-US" sz="1250" dirty="0"/>
          </a:p>
        </p:txBody>
      </p:sp>
      <p:pic>
        <p:nvPicPr>
          <p:cNvPr id="43" name="Image 11" descr="icons/arrow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32" y="5335524"/>
            <a:ext cx="201168" cy="201168"/>
          </a:xfrm>
          <a:prstGeom prst="rect">
            <a:avLst/>
          </a:prstGeom>
        </p:spPr>
      </p:pic>
      <p:sp>
        <p:nvSpPr>
          <p:cNvPr id="44" name="Shape 30"/>
          <p:cNvSpPr/>
          <p:nvPr/>
        </p:nvSpPr>
        <p:spPr>
          <a:xfrm>
            <a:off x="4370832" y="4718304"/>
            <a:ext cx="3611880" cy="1417320"/>
          </a:xfrm>
          <a:prstGeom prst="roundRect">
            <a:avLst>
              <a:gd name="adj" fmla="val 9032"/>
            </a:avLst>
          </a:prstGeom>
          <a:solidFill>
            <a:srgbClr val="112A4E">
              <a:alpha val="7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45" name="Shape 31"/>
          <p:cNvSpPr/>
          <p:nvPr/>
        </p:nvSpPr>
        <p:spPr>
          <a:xfrm>
            <a:off x="4608576" y="5097780"/>
            <a:ext cx="658368" cy="658368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46" name="Image 12" descr="icons/wifi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6584" y="5255788"/>
            <a:ext cx="342351" cy="342351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7598664" y="4791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8" name="Text 33"/>
          <p:cNvSpPr/>
          <p:nvPr/>
        </p:nvSpPr>
        <p:spPr>
          <a:xfrm>
            <a:off x="5376672" y="4718304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Wi-Fi / Bluetooth</a:t>
            </a:r>
            <a:endParaRPr lang="en-US" sz="1250" dirty="0"/>
          </a:p>
        </p:txBody>
      </p:sp>
      <p:pic>
        <p:nvPicPr>
          <p:cNvPr id="49" name="Image 13" descr="icons/arrow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144" y="5335524"/>
            <a:ext cx="201168" cy="201168"/>
          </a:xfrm>
          <a:prstGeom prst="rect">
            <a:avLst/>
          </a:prstGeom>
        </p:spPr>
      </p:pic>
      <p:sp>
        <p:nvSpPr>
          <p:cNvPr id="50" name="Shape 34"/>
          <p:cNvSpPr/>
          <p:nvPr/>
        </p:nvSpPr>
        <p:spPr>
          <a:xfrm>
            <a:off x="8238744" y="4718304"/>
            <a:ext cx="3611880" cy="1417320"/>
          </a:xfrm>
          <a:prstGeom prst="roundRect">
            <a:avLst>
              <a:gd name="adj" fmla="val 9032"/>
            </a:avLst>
          </a:prstGeom>
          <a:solidFill>
            <a:srgbClr val="112A4E">
              <a:alpha val="7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51" name="Shape 35"/>
          <p:cNvSpPr/>
          <p:nvPr/>
        </p:nvSpPr>
        <p:spPr>
          <a:xfrm>
            <a:off x="8476488" y="5097780"/>
            <a:ext cx="658368" cy="658368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52" name="Image 14" descr="icons/doctor_cya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34496" y="5255788"/>
            <a:ext cx="342351" cy="342351"/>
          </a:xfrm>
          <a:prstGeom prst="rect">
            <a:avLst/>
          </a:prstGeom>
        </p:spPr>
      </p:pic>
      <p:sp>
        <p:nvSpPr>
          <p:cNvPr id="53" name="Text 36"/>
          <p:cNvSpPr/>
          <p:nvPr/>
        </p:nvSpPr>
        <p:spPr>
          <a:xfrm>
            <a:off x="11466576" y="4791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4" name="Text 37"/>
          <p:cNvSpPr/>
          <p:nvPr/>
        </p:nvSpPr>
        <p:spPr>
          <a:xfrm>
            <a:off x="9244584" y="4718304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Doctor Mobile Application</a:t>
            </a:r>
            <a:endParaRPr lang="en-US" sz="1250" dirty="0"/>
          </a:p>
        </p:txBody>
      </p:sp>
      <p:sp>
        <p:nvSpPr>
          <p:cNvPr id="55" name="Text 38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000" dirty="0"/>
          </a:p>
        </p:txBody>
      </p:sp>
      <p:sp>
        <p:nvSpPr>
          <p:cNvPr id="56" name="Text 39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ERPM-EWS  |  BIOMEDICAL ENGINEERING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We Are Using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92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SETTINGS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97480" cy="1965960"/>
          </a:xfrm>
          <a:prstGeom prst="roundRect">
            <a:avLst>
              <a:gd name="adj" fmla="val 6512"/>
            </a:avLst>
          </a:prstGeom>
          <a:solidFill>
            <a:srgbClr val="112A4E">
              <a:alpha val="7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741932"/>
            <a:ext cx="777240" cy="777240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6" name="Image 0" descr="icons/hospital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9578" y="1928470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974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401568" y="1417320"/>
            <a:ext cx="2697480" cy="1965960"/>
          </a:xfrm>
          <a:prstGeom prst="roundRect">
            <a:avLst>
              <a:gd name="adj" fmla="val 6512"/>
            </a:avLst>
          </a:prstGeom>
          <a:solidFill>
            <a:srgbClr val="112A4E">
              <a:alpha val="7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61688" y="1741932"/>
            <a:ext cx="777240" cy="777240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10" name="Image 1" descr="icons/icu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8226" y="1928470"/>
            <a:ext cx="404165" cy="4041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38728" y="26974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ICU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300216" y="1417320"/>
            <a:ext cx="2697480" cy="1965960"/>
          </a:xfrm>
          <a:prstGeom prst="roundRect">
            <a:avLst>
              <a:gd name="adj" fmla="val 6512"/>
            </a:avLst>
          </a:prstGeom>
          <a:solidFill>
            <a:srgbClr val="112A4E">
              <a:alpha val="7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260336" y="1741932"/>
            <a:ext cx="777240" cy="777240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14" name="Image 2" descr="icons/ambulance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6874" y="1928470"/>
            <a:ext cx="404165" cy="40416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37376" y="26974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Ambulance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9198864" y="1417320"/>
            <a:ext cx="2697480" cy="1965960"/>
          </a:xfrm>
          <a:prstGeom prst="roundRect">
            <a:avLst>
              <a:gd name="adj" fmla="val 6512"/>
            </a:avLst>
          </a:prstGeom>
          <a:solidFill>
            <a:srgbClr val="112A4E">
              <a:alpha val="7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0158984" y="1741932"/>
            <a:ext cx="777240" cy="777240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18" name="Image 3" descr="icons/homecare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5522" y="1928470"/>
            <a:ext cx="404165" cy="40416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36024" y="26974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Home Healthcare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02920" y="3621024"/>
            <a:ext cx="2697480" cy="1965960"/>
          </a:xfrm>
          <a:prstGeom prst="roundRect">
            <a:avLst>
              <a:gd name="adj" fmla="val 6512"/>
            </a:avLst>
          </a:prstGeom>
          <a:solidFill>
            <a:srgbClr val="112A4E">
              <a:alpha val="7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463040" y="3945636"/>
            <a:ext cx="777240" cy="777240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22" name="Image 4" descr="icons/rural_cy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9578" y="4132174"/>
            <a:ext cx="404165" cy="40416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90118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Rural Healthcare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3401568" y="3621024"/>
            <a:ext cx="2697480" cy="1965960"/>
          </a:xfrm>
          <a:prstGeom prst="roundRect">
            <a:avLst>
              <a:gd name="adj" fmla="val 6512"/>
            </a:avLst>
          </a:prstGeom>
          <a:solidFill>
            <a:srgbClr val="112A4E">
              <a:alpha val="7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361688" y="3945636"/>
            <a:ext cx="777240" cy="777240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26" name="Image 5" descr="icons/rehab_cy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8226" y="4132174"/>
            <a:ext cx="404165" cy="40416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538728" y="490118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Rehabilitation Centers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300216" y="3621024"/>
            <a:ext cx="2697480" cy="1965960"/>
          </a:xfrm>
          <a:prstGeom prst="roundRect">
            <a:avLst>
              <a:gd name="adj" fmla="val 6512"/>
            </a:avLst>
          </a:prstGeom>
          <a:solidFill>
            <a:srgbClr val="112A4E">
              <a:alpha val="7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260336" y="3945636"/>
            <a:ext cx="777240" cy="777240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30" name="Image 6" descr="icons/shield_cya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46874" y="4132174"/>
            <a:ext cx="404165" cy="40416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437376" y="490118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Elderly Care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9198864" y="3621024"/>
            <a:ext cx="2697480" cy="1965960"/>
          </a:xfrm>
          <a:prstGeom prst="roundRect">
            <a:avLst>
              <a:gd name="adj" fmla="val 6512"/>
            </a:avLst>
          </a:prstGeom>
          <a:solidFill>
            <a:srgbClr val="112A4E">
              <a:alpha val="7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10158984" y="3945636"/>
            <a:ext cx="777240" cy="777240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34" name="Image 7" descr="icons/sleep_cya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45522" y="4132174"/>
            <a:ext cx="404165" cy="404165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336024" y="490118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Sleep Monitoring</a:t>
            </a:r>
            <a:endParaRPr lang="en-US" sz="1250" dirty="0"/>
          </a:p>
        </p:txBody>
      </p:sp>
      <p:sp>
        <p:nvSpPr>
          <p:cNvPr id="36" name="Text 2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ERPM-EWS  |  BIOMEDICAL ENGINEERING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Is Beneficial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92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611880" cy="1417320"/>
          </a:xfrm>
          <a:prstGeom prst="roundRect">
            <a:avLst>
              <a:gd name="adj" fmla="val 9032"/>
            </a:avLst>
          </a:prstGeom>
          <a:solidFill>
            <a:srgbClr val="112A4E">
              <a:alpha val="7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0664" y="1751076"/>
            <a:ext cx="658368" cy="658368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6" name="Image 0" descr="icons/lungs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672" y="1909084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3716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Asthma Patients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70832" y="1371600"/>
            <a:ext cx="3611880" cy="1417320"/>
          </a:xfrm>
          <a:prstGeom prst="roundRect">
            <a:avLst>
              <a:gd name="adj" fmla="val 9032"/>
            </a:avLst>
          </a:prstGeom>
          <a:solidFill>
            <a:srgbClr val="112A4E">
              <a:alpha val="7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08576" y="1751076"/>
            <a:ext cx="658368" cy="658368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10" name="Image 1" descr="icons/lungs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584" y="1909084"/>
            <a:ext cx="342351" cy="3423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76672" y="13716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COPD Patients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38744" y="1371600"/>
            <a:ext cx="3611880" cy="1417320"/>
          </a:xfrm>
          <a:prstGeom prst="roundRect">
            <a:avLst>
              <a:gd name="adj" fmla="val 9032"/>
            </a:avLst>
          </a:prstGeom>
          <a:solidFill>
            <a:srgbClr val="112A4E">
              <a:alpha val="7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476488" y="1751076"/>
            <a:ext cx="658368" cy="658368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14" name="Image 2" descr="icons/shield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1909084"/>
            <a:ext cx="342351" cy="34235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244584" y="13716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Elderly People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02920" y="3044952"/>
            <a:ext cx="3611880" cy="1417320"/>
          </a:xfrm>
          <a:prstGeom prst="roundRect">
            <a:avLst>
              <a:gd name="adj" fmla="val 9032"/>
            </a:avLst>
          </a:prstGeom>
          <a:solidFill>
            <a:srgbClr val="112A4E">
              <a:alpha val="7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0664" y="3424428"/>
            <a:ext cx="658368" cy="658368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18" name="Image 3" descr="icons/infant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672" y="3582436"/>
            <a:ext cx="342351" cy="34235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3044952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Infants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370832" y="3044952"/>
            <a:ext cx="3611880" cy="1417320"/>
          </a:xfrm>
          <a:prstGeom prst="roundRect">
            <a:avLst>
              <a:gd name="adj" fmla="val 9032"/>
            </a:avLst>
          </a:prstGeom>
          <a:solidFill>
            <a:srgbClr val="112A4E">
              <a:alpha val="7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608576" y="3424428"/>
            <a:ext cx="658368" cy="658368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22" name="Image 4" descr="icons/sleep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6584" y="3582436"/>
            <a:ext cx="342351" cy="34235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76672" y="3044952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Sleep Apnea Patients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238744" y="3044952"/>
            <a:ext cx="3611880" cy="1417320"/>
          </a:xfrm>
          <a:prstGeom prst="roundRect">
            <a:avLst>
              <a:gd name="adj" fmla="val 9032"/>
            </a:avLst>
          </a:prstGeom>
          <a:solidFill>
            <a:srgbClr val="112A4E">
              <a:alpha val="7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476488" y="3424428"/>
            <a:ext cx="658368" cy="658368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26" name="Image 5" descr="icons/kit_cy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4496" y="3582436"/>
            <a:ext cx="342351" cy="342351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244584" y="3044952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Post-operative Patients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502920" y="4718304"/>
            <a:ext cx="3611880" cy="1417320"/>
          </a:xfrm>
          <a:prstGeom prst="roundRect">
            <a:avLst>
              <a:gd name="adj" fmla="val 9032"/>
            </a:avLst>
          </a:prstGeom>
          <a:solidFill>
            <a:srgbClr val="112A4E">
              <a:alpha val="7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40664" y="5097780"/>
            <a:ext cx="658368" cy="658368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30" name="Image 6" descr="icons/doctor_cy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8672" y="5255788"/>
            <a:ext cx="342351" cy="342351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508760" y="4718304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Doctors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4370832" y="4718304"/>
            <a:ext cx="3611880" cy="1417320"/>
          </a:xfrm>
          <a:prstGeom prst="roundRect">
            <a:avLst>
              <a:gd name="adj" fmla="val 9032"/>
            </a:avLst>
          </a:prstGeom>
          <a:solidFill>
            <a:srgbClr val="112A4E">
              <a:alpha val="7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4608576" y="5097780"/>
            <a:ext cx="658368" cy="658368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34" name="Image 7" descr="icons/nurse_cya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6584" y="5255788"/>
            <a:ext cx="342351" cy="342351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376672" y="4718304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Nurses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8238744" y="4718304"/>
            <a:ext cx="3611880" cy="1417320"/>
          </a:xfrm>
          <a:prstGeom prst="roundRect">
            <a:avLst>
              <a:gd name="adj" fmla="val 9032"/>
            </a:avLst>
          </a:prstGeom>
          <a:solidFill>
            <a:srgbClr val="112A4E">
              <a:alpha val="7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8476488" y="5097780"/>
            <a:ext cx="658368" cy="658368"/>
          </a:xfrm>
          <a:prstGeom prst="ellipse">
            <a:avLst/>
          </a:prstGeom>
          <a:solidFill>
            <a:srgbClr val="0F2545">
              <a:alpha val="85000"/>
            </a:srgbClr>
          </a:solidFill>
          <a:ln w="15875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16200000" algn="bl" rotWithShape="0">
              <a:srgbClr val="00E5FF">
                <a:alpha val="35000"/>
              </a:srgbClr>
            </a:outerShdw>
          </a:effectLst>
        </p:spPr>
      </p:sp>
      <p:pic>
        <p:nvPicPr>
          <p:cNvPr id="38" name="Image 8" descr="icons/heartpulse_purp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34496" y="5255788"/>
            <a:ext cx="342351" cy="342351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9244584" y="4718304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Caregivers</a:t>
            </a:r>
            <a:endParaRPr lang="en-US" sz="1300" dirty="0"/>
          </a:p>
        </p:txBody>
      </p:sp>
      <p:sp>
        <p:nvSpPr>
          <p:cNvPr id="40" name="Text 29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41" name="Text 30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ERPM-EWS  |  BIOMEDICAL ENGINEERING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Advantages &amp; Applications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92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440680" cy="5029200"/>
          </a:xfrm>
          <a:prstGeom prst="roundRect">
            <a:avLst>
              <a:gd name="adj" fmla="val 2545"/>
            </a:avLst>
          </a:prstGeom>
          <a:solidFill>
            <a:srgbClr val="112A4E">
              <a:alpha val="70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00E5FF">
                <a:alpha val="28000"/>
              </a:srgbClr>
            </a:outerShdw>
          </a:effectLst>
        </p:spPr>
      </p:sp>
      <p:pic>
        <p:nvPicPr>
          <p:cNvPr id="5" name="Image 0" descr="icons/check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81328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63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2103120"/>
            <a:ext cx="82296" cy="82296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8" name="Text 5"/>
          <p:cNvSpPr/>
          <p:nvPr/>
        </p:nvSpPr>
        <p:spPr>
          <a:xfrm>
            <a:off x="1024128" y="20116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2587752"/>
            <a:ext cx="82296" cy="82296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0" name="Text 7"/>
          <p:cNvSpPr/>
          <p:nvPr/>
        </p:nvSpPr>
        <p:spPr>
          <a:xfrm>
            <a:off x="1024128" y="249631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072384"/>
            <a:ext cx="82296" cy="82296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2" name="Text 9"/>
          <p:cNvSpPr/>
          <p:nvPr/>
        </p:nvSpPr>
        <p:spPr>
          <a:xfrm>
            <a:off x="1024128" y="2980944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" y="3557016"/>
            <a:ext cx="82296" cy="82296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4" name="Text 11"/>
          <p:cNvSpPr/>
          <p:nvPr/>
        </p:nvSpPr>
        <p:spPr>
          <a:xfrm>
            <a:off x="1024128" y="3465576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4041648"/>
            <a:ext cx="82296" cy="82296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6" name="Text 13"/>
          <p:cNvSpPr/>
          <p:nvPr/>
        </p:nvSpPr>
        <p:spPr>
          <a:xfrm>
            <a:off x="1024128" y="395020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4526280"/>
            <a:ext cx="82296" cy="82296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8" name="Text 15"/>
          <p:cNvSpPr/>
          <p:nvPr/>
        </p:nvSpPr>
        <p:spPr>
          <a:xfrm>
            <a:off x="1024128" y="44348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22960" y="5010912"/>
            <a:ext cx="82296" cy="82296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0" name="Text 17"/>
          <p:cNvSpPr/>
          <p:nvPr/>
        </p:nvSpPr>
        <p:spPr>
          <a:xfrm>
            <a:off x="1024128" y="491947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Power Consumption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22960" y="5495544"/>
            <a:ext cx="82296" cy="82296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2" name="Text 19"/>
          <p:cNvSpPr/>
          <p:nvPr/>
        </p:nvSpPr>
        <p:spPr>
          <a:xfrm>
            <a:off x="1024128" y="5404104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Use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22960" y="5980176"/>
            <a:ext cx="82296" cy="82296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4" name="Text 21"/>
          <p:cNvSpPr/>
          <p:nvPr/>
        </p:nvSpPr>
        <p:spPr>
          <a:xfrm>
            <a:off x="1024128" y="5888736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245352" y="1280160"/>
            <a:ext cx="5440680" cy="5029200"/>
          </a:xfrm>
          <a:prstGeom prst="roundRect">
            <a:avLst>
              <a:gd name="adj" fmla="val 2545"/>
            </a:avLst>
          </a:prstGeom>
          <a:solidFill>
            <a:srgbClr val="112A4E">
              <a:alpha val="70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228600" dist="50800" dir="16200000" algn="bl" rotWithShape="0">
              <a:srgbClr val="8A2BE2">
                <a:alpha val="28000"/>
              </a:srgbClr>
            </a:outerShdw>
          </a:effectLst>
        </p:spPr>
      </p:sp>
      <p:pic>
        <p:nvPicPr>
          <p:cNvPr id="26" name="Image 1" descr="icons/bolt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1481328"/>
            <a:ext cx="310896" cy="31089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931152" y="1463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Applications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6565392" y="2103120"/>
            <a:ext cx="82296" cy="82296"/>
          </a:xfrm>
          <a:prstGeom prst="ellipse">
            <a:avLst/>
          </a:prstGeom>
          <a:solidFill>
            <a:srgbClr val="8A2BE2"/>
          </a:solidFill>
          <a:ln/>
        </p:spPr>
      </p:sp>
      <p:sp>
        <p:nvSpPr>
          <p:cNvPr id="29" name="Text 25"/>
          <p:cNvSpPr/>
          <p:nvPr/>
        </p:nvSpPr>
        <p:spPr>
          <a:xfrm>
            <a:off x="6766560" y="2011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Hospitals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565392" y="2651760"/>
            <a:ext cx="82296" cy="82296"/>
          </a:xfrm>
          <a:prstGeom prst="ellipse">
            <a:avLst/>
          </a:prstGeom>
          <a:solidFill>
            <a:srgbClr val="8A2BE2"/>
          </a:solidFill>
          <a:ln/>
        </p:spPr>
      </p:sp>
      <p:sp>
        <p:nvSpPr>
          <p:cNvPr id="31" name="Text 27"/>
          <p:cNvSpPr/>
          <p:nvPr/>
        </p:nvSpPr>
        <p:spPr>
          <a:xfrm>
            <a:off x="6766560" y="2560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6565392" y="3200400"/>
            <a:ext cx="82296" cy="82296"/>
          </a:xfrm>
          <a:prstGeom prst="ellipse">
            <a:avLst/>
          </a:prstGeom>
          <a:solidFill>
            <a:srgbClr val="8A2BE2"/>
          </a:solidFill>
          <a:ln/>
        </p:spPr>
      </p:sp>
      <p:sp>
        <p:nvSpPr>
          <p:cNvPr id="33" name="Text 29"/>
          <p:cNvSpPr/>
          <p:nvPr/>
        </p:nvSpPr>
        <p:spPr>
          <a:xfrm>
            <a:off x="6766560" y="3108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Healthcare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6565392" y="3749040"/>
            <a:ext cx="82296" cy="82296"/>
          </a:xfrm>
          <a:prstGeom prst="ellipse">
            <a:avLst/>
          </a:prstGeom>
          <a:solidFill>
            <a:srgbClr val="8A2BE2"/>
          </a:solidFill>
          <a:ln/>
        </p:spPr>
      </p:sp>
      <p:sp>
        <p:nvSpPr>
          <p:cNvPr id="35" name="Text 31"/>
          <p:cNvSpPr/>
          <p:nvPr/>
        </p:nvSpPr>
        <p:spPr>
          <a:xfrm>
            <a:off x="6766560" y="3657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Medical Devices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6565392" y="4297680"/>
            <a:ext cx="82296" cy="82296"/>
          </a:xfrm>
          <a:prstGeom prst="ellipse">
            <a:avLst/>
          </a:prstGeom>
          <a:solidFill>
            <a:srgbClr val="8A2BE2"/>
          </a:solidFill>
          <a:ln/>
        </p:spPr>
      </p:sp>
      <p:sp>
        <p:nvSpPr>
          <p:cNvPr id="37" name="Text 33"/>
          <p:cNvSpPr/>
          <p:nvPr/>
        </p:nvSpPr>
        <p:spPr>
          <a:xfrm>
            <a:off x="6766560" y="4206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Medical Services</a:t>
            </a:r>
            <a:endParaRPr lang="en-US" sz="1250" dirty="0"/>
          </a:p>
        </p:txBody>
      </p:sp>
      <p:sp>
        <p:nvSpPr>
          <p:cNvPr id="38" name="Shape 34"/>
          <p:cNvSpPr/>
          <p:nvPr/>
        </p:nvSpPr>
        <p:spPr>
          <a:xfrm>
            <a:off x="6565392" y="4846320"/>
            <a:ext cx="82296" cy="82296"/>
          </a:xfrm>
          <a:prstGeom prst="ellipse">
            <a:avLst/>
          </a:prstGeom>
          <a:solidFill>
            <a:srgbClr val="8A2BE2"/>
          </a:solidFill>
          <a:ln/>
        </p:spPr>
      </p:sp>
      <p:sp>
        <p:nvSpPr>
          <p:cNvPr id="39" name="Text 35"/>
          <p:cNvSpPr/>
          <p:nvPr/>
        </p:nvSpPr>
        <p:spPr>
          <a:xfrm>
            <a:off x="6766560" y="4754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Healthcare</a:t>
            </a:r>
            <a:endParaRPr lang="en-US" sz="1250" dirty="0"/>
          </a:p>
        </p:txBody>
      </p:sp>
      <p:sp>
        <p:nvSpPr>
          <p:cNvPr id="40" name="Shape 36"/>
          <p:cNvSpPr/>
          <p:nvPr/>
        </p:nvSpPr>
        <p:spPr>
          <a:xfrm>
            <a:off x="6565392" y="5394960"/>
            <a:ext cx="82296" cy="82296"/>
          </a:xfrm>
          <a:prstGeom prst="ellipse">
            <a:avLst/>
          </a:prstGeom>
          <a:solidFill>
            <a:srgbClr val="8A2BE2"/>
          </a:solidFill>
          <a:ln/>
        </p:spPr>
      </p:sp>
      <p:sp>
        <p:nvSpPr>
          <p:cNvPr id="41" name="Text 37"/>
          <p:cNvSpPr/>
          <p:nvPr/>
        </p:nvSpPr>
        <p:spPr>
          <a:xfrm>
            <a:off x="6766560" y="5303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Healthcare</a:t>
            </a:r>
            <a:endParaRPr lang="en-US" sz="1250" dirty="0"/>
          </a:p>
        </p:txBody>
      </p:sp>
      <p:sp>
        <p:nvSpPr>
          <p:cNvPr id="42" name="Shape 38"/>
          <p:cNvSpPr/>
          <p:nvPr/>
        </p:nvSpPr>
        <p:spPr>
          <a:xfrm>
            <a:off x="6565392" y="5943600"/>
            <a:ext cx="82296" cy="82296"/>
          </a:xfrm>
          <a:prstGeom prst="ellipse">
            <a:avLst/>
          </a:prstGeom>
          <a:solidFill>
            <a:srgbClr val="8A2BE2"/>
          </a:solidFill>
          <a:ln/>
        </p:spPr>
      </p:sp>
      <p:sp>
        <p:nvSpPr>
          <p:cNvPr id="43" name="Text 39"/>
          <p:cNvSpPr/>
          <p:nvPr/>
        </p:nvSpPr>
        <p:spPr>
          <a:xfrm>
            <a:off x="6766560" y="5852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Patient Monitoring</a:t>
            </a:r>
            <a:endParaRPr lang="en-US" sz="1250" dirty="0"/>
          </a:p>
        </p:txBody>
      </p:sp>
      <p:sp>
        <p:nvSpPr>
          <p:cNvPr id="44" name="Text 40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ERPM-EWS  |  BIOMEDICAL ENGINEERING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hero_lungs_circu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648" y="502920"/>
            <a:ext cx="3200400" cy="3200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7947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5090008" y="4663440"/>
            <a:ext cx="2011680" cy="0"/>
          </a:xfrm>
          <a:prstGeom prst="line">
            <a:avLst/>
          </a:prstGeom>
          <a:noFill/>
          <a:ln w="25400">
            <a:solidFill>
              <a:srgbClr val="00E5FF">
                <a:alpha val="8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828032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Embedded Respiratory Pattern Monitoring and Early Warning System</a:t>
            </a:r>
          </a:p>
        </p:txBody>
      </p:sp>
      <p:sp>
        <p:nvSpPr>
          <p:cNvPr id="6" name="Text 3"/>
          <p:cNvSpPr/>
          <p:nvPr/>
        </p:nvSpPr>
        <p:spPr>
          <a:xfrm>
            <a:off x="914400" y="525780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689</Words>
  <Application>Microsoft Office PowerPoint</Application>
  <PresentationFormat>Widescreen</PresentationFormat>
  <Paragraphs>185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Bahnschrift Condensed</vt:lpstr>
      <vt:lpstr>Calibri</vt:lpstr>
      <vt:lpstr>Cascadia Code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ThisPc</cp:lastModifiedBy>
  <cp:revision>8</cp:revision>
  <dcterms:created xsi:type="dcterms:W3CDTF">2026-07-30T18:08:53Z</dcterms:created>
  <dcterms:modified xsi:type="dcterms:W3CDTF">2026-07-30T18:59:08Z</dcterms:modified>
</cp:coreProperties>
</file>